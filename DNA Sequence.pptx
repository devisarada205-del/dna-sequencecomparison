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7952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(~20 sec): Our project is Common Thread, an interactive DNA sequence comparison platform combining bioinformatics with Dynamic Programming.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(~30 sec): The challenge is not simply comparing two strings. We need to identify their longest ordered common pattern while making the computational reasoning understandable.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(~35 sec): Our innovation is explainability. Instead of giving users an LCS result as a black box, we expose the DP states, decisions and traceback.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(~30 sec): The user enters two sequences. We preprocess them, construct the DP matrix, calculate the LCS, trace the solution backward, and finally display similarity and coverage.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(~45 sec): The core is LCS implemented through Dynamic Programming. Matching characters use the diagonal state, while mismatches choose the larger neighboring state. The standard implementation takes O(mn) time and space.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(~45 sec): Here's the actual system. We can watch the matrix being constructed, follow the traceback, and obtain the common sequence and similarity metrics. We can also compare our LCS approach with Biopython's scored global alignment. Tip: replace the panels here with real screenshots of your app if you prefer.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(~25 sec): Our current prototype demonstrates the complete algorithmic workflow. Our next step is to extend it toward more advanced alignment algorithms, larger datasets and richer bioinformatics analysis. Closing: Common Thread doesn't just find what two sequences have in common — it makes the computational path to that discovery visible.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rgbClr val="F4F1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1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lgn="l">
              <a:buNone/>
              <a:defRPr lang="en-US" sz="3400" b="1" dirty="0">
                <a:solidFill>
                  <a:srgbClr val="2B2A4C"/>
                </a:solidFill>
              </a:defRPr>
            </a:lvl1pPr>
          </a:lstStyle>
          <a:p>
            <a:pPr marL="0" indent="0" algn="l">
              <a:buNone/>
            </a:pPr>
            <a:endParaRPr lang="en-US" sz="3400" dirty="0"/>
          </a:p>
        </p:txBody>
      </p:sp>
      <p:sp>
        <p:nvSpPr>
          <p:cNvPr id="3" name="Text 0"/>
          <p:cNvSpPr/>
          <p:nvPr/>
        </p:nvSpPr>
        <p:spPr>
          <a:xfrm>
            <a:off x="457200" y="4828032"/>
            <a:ext cx="4572000" cy="228600"/>
          </a:xfrm>
          <a:prstGeom prst="rect">
            <a:avLst/>
          </a:prstGeom>
          <a:noFill/>
          <a:ln/>
        </p:spPr>
        <p:txBody>
          <a:bodyPr wrap="square" lIns="0" tIns="0" rIns="0" bIns="0" rtlCol="0" anchor="ctr"/>
          <a:lstStyle/>
          <a:p>
            <a:pPr marL="0" indent="0">
              <a:buNone/>
            </a:pPr>
            <a:r>
              <a:rPr lang="en-US" sz="1000" dirty="0">
                <a:solidFill>
                  <a:srgbClr val="64748B"/>
                </a:solidFill>
              </a:rPr>
              <a:t>COMMON THREAD  ·  DNA SEQUENCE COMPARISON</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548640"/>
            <a:ext cx="4480560" cy="27432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BIOINFORMATICS × DESIGN &amp; ANALYSIS OF ALGORITHMS</a:t>
            </a:r>
            <a:endParaRPr lang="en-US" sz="1100" dirty="0"/>
          </a:p>
        </p:txBody>
      </p:sp>
      <p:sp>
        <p:nvSpPr>
          <p:cNvPr id="3" name="Text 1"/>
          <p:cNvSpPr txBox="1"/>
          <p:nvPr/>
        </p:nvSpPr>
        <p:spPr>
          <a:xfrm>
            <a:off x="457200" y="868680"/>
            <a:ext cx="4480560" cy="731520"/>
          </a:xfrm>
          <a:prstGeom prst="rect">
            <a:avLst/>
          </a:prstGeom>
          <a:noFill/>
          <a:ln/>
        </p:spPr>
        <p:txBody>
          <a:bodyPr wrap="square" lIns="0" tIns="0" rIns="0" bIns="0" rtlCol="0" anchor="ctr"/>
          <a:lstStyle/>
          <a:p>
            <a:pPr marL="0" indent="0">
              <a:buNone/>
            </a:pPr>
            <a:r>
              <a:rPr lang="en-US" sz="4000" b="1" dirty="0">
                <a:solidFill>
                  <a:srgbClr val="2B2A4C"/>
                </a:solidFill>
                <a:latin typeface="Calibri" pitchFamily="34" charset="0"/>
                <a:ea typeface="Calibri" pitchFamily="34" charset="-122"/>
                <a:cs typeface="Calibri" pitchFamily="34" charset="-120"/>
              </a:rPr>
              <a:t>COMMON THREAD</a:t>
            </a:r>
            <a:endParaRPr lang="en-US" sz="4000" dirty="0"/>
          </a:p>
        </p:txBody>
      </p:sp>
      <p:sp>
        <p:nvSpPr>
          <p:cNvPr id="4" name="Text 2"/>
          <p:cNvSpPr txBox="1"/>
          <p:nvPr/>
        </p:nvSpPr>
        <p:spPr>
          <a:xfrm>
            <a:off x="457200" y="1645920"/>
            <a:ext cx="4297680" cy="594360"/>
          </a:xfrm>
          <a:prstGeom prst="rect">
            <a:avLst/>
          </a:prstGeom>
          <a:noFill/>
          <a:ln/>
        </p:spPr>
        <p:txBody>
          <a:bodyPr wrap="square" lIns="0" tIns="0" rIns="0" bIns="0" rtlCol="0" anchor="t"/>
          <a:lstStyle/>
          <a:p>
            <a:pPr marL="0" indent="0">
              <a:buNone/>
            </a:pPr>
            <a:r>
              <a:rPr lang="en-US" sz="1800" i="1" dirty="0">
                <a:solidFill>
                  <a:srgbClr val="4A4870"/>
                </a:solidFill>
                <a:latin typeface="Calibri" pitchFamily="34" charset="0"/>
                <a:ea typeface="Calibri" pitchFamily="34" charset="-122"/>
                <a:cs typeface="Calibri" pitchFamily="34" charset="-120"/>
              </a:rPr>
              <a:t>DNA Sequence Comparison using Dynamic Programming</a:t>
            </a:r>
            <a:endParaRPr lang="en-US" sz="1800" dirty="0"/>
          </a:p>
        </p:txBody>
      </p:sp>
      <p:sp>
        <p:nvSpPr>
          <p:cNvPr id="5" name="Shape 3"/>
          <p:cNvSpPr/>
          <p:nvPr/>
        </p:nvSpPr>
        <p:spPr>
          <a:xfrm>
            <a:off x="457200" y="2423160"/>
            <a:ext cx="4297680" cy="1005840"/>
          </a:xfrm>
          <a:prstGeom prst="roundRect">
            <a:avLst>
              <a:gd name="adj" fmla="val 7273"/>
            </a:avLst>
          </a:prstGeom>
          <a:solidFill>
            <a:srgbClr val="FFFFFF"/>
          </a:solidFill>
          <a:ln w="9525">
            <a:solidFill>
              <a:srgbClr val="D9D0F2"/>
            </a:solidFill>
            <a:prstDash val="solid"/>
          </a:ln>
        </p:spPr>
      </p:sp>
      <p:sp>
        <p:nvSpPr>
          <p:cNvPr id="6" name="Text 4"/>
          <p:cNvSpPr txBox="1"/>
          <p:nvPr/>
        </p:nvSpPr>
        <p:spPr>
          <a:xfrm>
            <a:off x="640080" y="2514600"/>
            <a:ext cx="3931920" cy="868680"/>
          </a:xfrm>
          <a:prstGeom prst="rect">
            <a:avLst/>
          </a:prstGeom>
          <a:noFill/>
          <a:ln/>
        </p:spPr>
        <p:txBody>
          <a:bodyPr wrap="square" lIns="0" tIns="0" rIns="0" bIns="0" rtlCol="0" anchor="t"/>
          <a:lstStyle/>
          <a:p>
            <a:pPr marL="0" indent="0">
              <a:buNone/>
            </a:pPr>
            <a:r>
              <a:rPr lang="en-US" sz="1000" b="1" dirty="0">
                <a:solidFill>
                  <a:srgbClr val="6B46C1"/>
                </a:solidFill>
                <a:latin typeface="Calibri" pitchFamily="34" charset="0"/>
                <a:ea typeface="Calibri" pitchFamily="34" charset="-122"/>
                <a:cs typeface="Calibri" pitchFamily="34" charset="-120"/>
              </a:rPr>
              <a:t>ONE-LINE IDEA</a:t>
            </a:r>
            <a:endParaRPr lang="en-US" sz="1400" dirty="0"/>
          </a:p>
          <a:p>
            <a:pPr marL="0" indent="0">
              <a:buNone/>
            </a:pPr>
            <a:r>
              <a:rPr lang="en-US" sz="1300" dirty="0">
                <a:solidFill>
                  <a:srgbClr val="2B2A4C"/>
                </a:solidFill>
                <a:latin typeface="Calibri" pitchFamily="34" charset="0"/>
                <a:ea typeface="Calibri" pitchFamily="34" charset="-122"/>
                <a:cs typeface="Calibri" pitchFamily="34" charset="-120"/>
              </a:rPr>
              <a:t>An interactive platform that finds the longest ordered pattern shared between two DNA sequences — and shows exactly how the algorithm finds it.</a:t>
            </a:r>
            <a:endParaRPr lang="en-US" sz="1400" dirty="0"/>
          </a:p>
        </p:txBody>
      </p:sp>
      <p:sp>
        <p:nvSpPr>
          <p:cNvPr id="7" name="Text 5"/>
          <p:cNvSpPr txBox="1"/>
          <p:nvPr/>
        </p:nvSpPr>
        <p:spPr>
          <a:xfrm>
            <a:off x="457200" y="3611880"/>
            <a:ext cx="182880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TEAM</a:t>
            </a:r>
            <a:endParaRPr lang="en-US" sz="1100" dirty="0"/>
          </a:p>
        </p:txBody>
      </p:sp>
      <p:sp>
        <p:nvSpPr>
          <p:cNvPr id="8" name="Shape 6"/>
          <p:cNvSpPr/>
          <p:nvPr/>
        </p:nvSpPr>
        <p:spPr>
          <a:xfrm>
            <a:off x="457200" y="3886200"/>
            <a:ext cx="2103120" cy="329184"/>
          </a:xfrm>
          <a:prstGeom prst="roundRect">
            <a:avLst>
              <a:gd name="adj" fmla="val 16667"/>
            </a:avLst>
          </a:prstGeom>
          <a:solidFill>
            <a:srgbClr val="EAE4FB"/>
          </a:solidFill>
          <a:ln w="9525">
            <a:solidFill>
              <a:srgbClr val="D9D0F2"/>
            </a:solidFill>
            <a:prstDash val="solid"/>
          </a:ln>
        </p:spPr>
      </p:sp>
      <p:sp>
        <p:nvSpPr>
          <p:cNvPr id="9" name="Text 7"/>
          <p:cNvSpPr txBox="1"/>
          <p:nvPr/>
        </p:nvSpPr>
        <p:spPr>
          <a:xfrm>
            <a:off x="457200" y="3886200"/>
            <a:ext cx="2103120" cy="329184"/>
          </a:xfrm>
          <a:prstGeom prst="rect">
            <a:avLst/>
          </a:prstGeom>
          <a:noFill/>
          <a:ln/>
        </p:spPr>
        <p:txBody>
          <a:bodyPr wrap="square" lIns="0" tIns="0" rIns="0" bIns="0" rtlCol="0" anchor="ctr"/>
          <a:lstStyle/>
          <a:p>
            <a:pPr marL="0" indent="0" algn="ctr">
              <a:buNone/>
            </a:pPr>
            <a:r>
              <a:rPr lang="en-US" sz="1300" dirty="0">
                <a:solidFill>
                  <a:srgbClr val="2B2A4C"/>
                </a:solidFill>
                <a:latin typeface="Calibri" pitchFamily="34" charset="0"/>
                <a:ea typeface="Calibri" pitchFamily="34" charset="-122"/>
                <a:cs typeface="Calibri" pitchFamily="34" charset="-120"/>
              </a:rPr>
              <a:t>Amy Pearline</a:t>
            </a:r>
            <a:endParaRPr lang="en-US" sz="1300" dirty="0"/>
          </a:p>
        </p:txBody>
      </p:sp>
      <p:sp>
        <p:nvSpPr>
          <p:cNvPr id="10" name="Shape 8"/>
          <p:cNvSpPr/>
          <p:nvPr/>
        </p:nvSpPr>
        <p:spPr>
          <a:xfrm>
            <a:off x="2651760" y="3886200"/>
            <a:ext cx="2103120" cy="329184"/>
          </a:xfrm>
          <a:prstGeom prst="roundRect">
            <a:avLst>
              <a:gd name="adj" fmla="val 16667"/>
            </a:avLst>
          </a:prstGeom>
          <a:solidFill>
            <a:srgbClr val="EAE4FB"/>
          </a:solidFill>
          <a:ln w="9525">
            <a:solidFill>
              <a:srgbClr val="D9D0F2"/>
            </a:solidFill>
            <a:prstDash val="solid"/>
          </a:ln>
        </p:spPr>
      </p:sp>
      <p:sp>
        <p:nvSpPr>
          <p:cNvPr id="11" name="Text 9"/>
          <p:cNvSpPr txBox="1"/>
          <p:nvPr/>
        </p:nvSpPr>
        <p:spPr>
          <a:xfrm>
            <a:off x="2651760" y="3886200"/>
            <a:ext cx="2103120" cy="329184"/>
          </a:xfrm>
          <a:prstGeom prst="rect">
            <a:avLst/>
          </a:prstGeom>
          <a:noFill/>
          <a:ln/>
        </p:spPr>
        <p:txBody>
          <a:bodyPr wrap="square" lIns="0" tIns="0" rIns="0" bIns="0" rtlCol="0" anchor="ctr"/>
          <a:lstStyle/>
          <a:p>
            <a:pPr marL="0" indent="0" algn="ctr">
              <a:buNone/>
            </a:pPr>
            <a:r>
              <a:rPr lang="en-US" sz="1300" dirty="0">
                <a:solidFill>
                  <a:srgbClr val="2B2A4C"/>
                </a:solidFill>
                <a:latin typeface="Calibri" pitchFamily="34" charset="0"/>
                <a:ea typeface="Calibri" pitchFamily="34" charset="-122"/>
                <a:cs typeface="Calibri" pitchFamily="34" charset="-120"/>
              </a:rPr>
              <a:t>N Devi Sarada</a:t>
            </a:r>
            <a:endParaRPr lang="en-US" sz="1300" dirty="0"/>
          </a:p>
        </p:txBody>
      </p:sp>
      <p:sp>
        <p:nvSpPr>
          <p:cNvPr id="12" name="Shape 10"/>
          <p:cNvSpPr/>
          <p:nvPr/>
        </p:nvSpPr>
        <p:spPr>
          <a:xfrm>
            <a:off x="457200" y="4297680"/>
            <a:ext cx="2103120" cy="329184"/>
          </a:xfrm>
          <a:prstGeom prst="roundRect">
            <a:avLst>
              <a:gd name="adj" fmla="val 16667"/>
            </a:avLst>
          </a:prstGeom>
          <a:solidFill>
            <a:srgbClr val="EAE4FB"/>
          </a:solidFill>
          <a:ln w="9525">
            <a:solidFill>
              <a:srgbClr val="D9D0F2"/>
            </a:solidFill>
            <a:prstDash val="solid"/>
          </a:ln>
        </p:spPr>
      </p:sp>
      <p:sp>
        <p:nvSpPr>
          <p:cNvPr id="13" name="Text 11"/>
          <p:cNvSpPr txBox="1"/>
          <p:nvPr/>
        </p:nvSpPr>
        <p:spPr>
          <a:xfrm>
            <a:off x="457200" y="4297680"/>
            <a:ext cx="2103120" cy="329184"/>
          </a:xfrm>
          <a:prstGeom prst="rect">
            <a:avLst/>
          </a:prstGeom>
          <a:noFill/>
          <a:ln/>
        </p:spPr>
        <p:txBody>
          <a:bodyPr wrap="square" lIns="0" tIns="0" rIns="0" bIns="0" rtlCol="0" anchor="ctr"/>
          <a:lstStyle/>
          <a:p>
            <a:pPr marL="0" indent="0" algn="ctr">
              <a:buNone/>
            </a:pPr>
            <a:r>
              <a:rPr lang="en-US" sz="1300" dirty="0">
                <a:solidFill>
                  <a:srgbClr val="2B2A4C"/>
                </a:solidFill>
                <a:latin typeface="Calibri" pitchFamily="34" charset="0"/>
                <a:ea typeface="Calibri" pitchFamily="34" charset="-122"/>
                <a:cs typeface="Calibri" pitchFamily="34" charset="-120"/>
              </a:rPr>
              <a:t>P.S Sri Lakshmi</a:t>
            </a:r>
            <a:endParaRPr lang="en-US" sz="1300" dirty="0"/>
          </a:p>
        </p:txBody>
      </p:sp>
      <p:sp>
        <p:nvSpPr>
          <p:cNvPr id="14" name="Shape 12"/>
          <p:cNvSpPr/>
          <p:nvPr/>
        </p:nvSpPr>
        <p:spPr>
          <a:xfrm>
            <a:off x="2651760" y="4297680"/>
            <a:ext cx="2103120" cy="329184"/>
          </a:xfrm>
          <a:prstGeom prst="roundRect">
            <a:avLst>
              <a:gd name="adj" fmla="val 16667"/>
            </a:avLst>
          </a:prstGeom>
          <a:solidFill>
            <a:srgbClr val="EAE4FB"/>
          </a:solidFill>
          <a:ln w="9525">
            <a:solidFill>
              <a:srgbClr val="D9D0F2"/>
            </a:solidFill>
            <a:prstDash val="solid"/>
          </a:ln>
        </p:spPr>
      </p:sp>
      <p:sp>
        <p:nvSpPr>
          <p:cNvPr id="15" name="Text 13"/>
          <p:cNvSpPr txBox="1"/>
          <p:nvPr/>
        </p:nvSpPr>
        <p:spPr>
          <a:xfrm>
            <a:off x="2651760" y="4297680"/>
            <a:ext cx="2103120" cy="329184"/>
          </a:xfrm>
          <a:prstGeom prst="rect">
            <a:avLst/>
          </a:prstGeom>
          <a:noFill/>
          <a:ln/>
        </p:spPr>
        <p:txBody>
          <a:bodyPr wrap="square" lIns="0" tIns="0" rIns="0" bIns="0" rtlCol="0" anchor="ctr"/>
          <a:lstStyle/>
          <a:p>
            <a:pPr marL="0" indent="0" algn="ctr">
              <a:buNone/>
            </a:pPr>
            <a:r>
              <a:rPr lang="en-US" sz="1300" dirty="0">
                <a:solidFill>
                  <a:srgbClr val="2B2A4C"/>
                </a:solidFill>
                <a:latin typeface="Calibri" pitchFamily="34" charset="0"/>
                <a:ea typeface="Calibri" pitchFamily="34" charset="-122"/>
                <a:cs typeface="Calibri" pitchFamily="34" charset="-120"/>
              </a:rPr>
              <a:t>Y Malishka Varma</a:t>
            </a:r>
            <a:endParaRPr lang="en-US" sz="1300" dirty="0"/>
          </a:p>
        </p:txBody>
      </p:sp>
      <p:sp>
        <p:nvSpPr>
          <p:cNvPr id="16" name="Shape 14"/>
          <p:cNvSpPr/>
          <p:nvPr/>
        </p:nvSpPr>
        <p:spPr>
          <a:xfrm>
            <a:off x="7178040" y="457200"/>
            <a:ext cx="490494" cy="201168"/>
          </a:xfrm>
          <a:prstGeom prst="line">
            <a:avLst/>
          </a:prstGeom>
          <a:noFill/>
          <a:ln w="15875">
            <a:solidFill>
              <a:srgbClr val="6FCFC0"/>
            </a:solidFill>
            <a:prstDash val="solid"/>
          </a:ln>
        </p:spPr>
      </p:sp>
      <p:sp>
        <p:nvSpPr>
          <p:cNvPr id="17" name="Shape 15"/>
          <p:cNvSpPr/>
          <p:nvPr/>
        </p:nvSpPr>
        <p:spPr>
          <a:xfrm flipV="1">
            <a:off x="6687546" y="457200"/>
            <a:ext cx="490494" cy="201168"/>
          </a:xfrm>
          <a:prstGeom prst="line">
            <a:avLst/>
          </a:prstGeom>
          <a:noFill/>
          <a:ln w="15875">
            <a:solidFill>
              <a:srgbClr val="A68BE8"/>
            </a:solidFill>
            <a:prstDash val="solid"/>
          </a:ln>
        </p:spPr>
      </p:sp>
      <p:sp>
        <p:nvSpPr>
          <p:cNvPr id="18" name="Shape 16"/>
          <p:cNvSpPr/>
          <p:nvPr/>
        </p:nvSpPr>
        <p:spPr>
          <a:xfrm>
            <a:off x="7668534" y="658368"/>
            <a:ext cx="319150" cy="201168"/>
          </a:xfrm>
          <a:prstGeom prst="line">
            <a:avLst/>
          </a:prstGeom>
          <a:noFill/>
          <a:ln w="15875">
            <a:solidFill>
              <a:srgbClr val="6FCFC0"/>
            </a:solidFill>
            <a:prstDash val="solid"/>
          </a:ln>
        </p:spPr>
      </p:sp>
      <p:sp>
        <p:nvSpPr>
          <p:cNvPr id="19" name="Shape 17"/>
          <p:cNvSpPr/>
          <p:nvPr/>
        </p:nvSpPr>
        <p:spPr>
          <a:xfrm flipV="1">
            <a:off x="6368396" y="658368"/>
            <a:ext cx="319150" cy="201168"/>
          </a:xfrm>
          <a:prstGeom prst="line">
            <a:avLst/>
          </a:prstGeom>
          <a:noFill/>
          <a:ln w="15875">
            <a:solidFill>
              <a:srgbClr val="A68BE8"/>
            </a:solidFill>
            <a:prstDash val="solid"/>
          </a:ln>
        </p:spPr>
      </p:sp>
      <p:sp>
        <p:nvSpPr>
          <p:cNvPr id="20" name="Shape 18"/>
          <p:cNvSpPr/>
          <p:nvPr/>
        </p:nvSpPr>
        <p:spPr>
          <a:xfrm>
            <a:off x="7987684" y="859536"/>
            <a:ext cx="36318" cy="201168"/>
          </a:xfrm>
          <a:prstGeom prst="line">
            <a:avLst/>
          </a:prstGeom>
          <a:noFill/>
          <a:ln w="15875">
            <a:solidFill>
              <a:srgbClr val="6FCFC0"/>
            </a:solidFill>
            <a:prstDash val="solid"/>
          </a:ln>
        </p:spPr>
      </p:sp>
      <p:sp>
        <p:nvSpPr>
          <p:cNvPr id="21" name="Shape 19"/>
          <p:cNvSpPr/>
          <p:nvPr/>
        </p:nvSpPr>
        <p:spPr>
          <a:xfrm flipV="1">
            <a:off x="6332078" y="859536"/>
            <a:ext cx="36318" cy="201168"/>
          </a:xfrm>
          <a:prstGeom prst="line">
            <a:avLst/>
          </a:prstGeom>
          <a:noFill/>
          <a:ln w="15875">
            <a:solidFill>
              <a:srgbClr val="A68BE8"/>
            </a:solidFill>
            <a:prstDash val="solid"/>
          </a:ln>
        </p:spPr>
      </p:sp>
      <p:sp>
        <p:nvSpPr>
          <p:cNvPr id="22" name="Shape 20"/>
          <p:cNvSpPr/>
          <p:nvPr/>
        </p:nvSpPr>
        <p:spPr>
          <a:xfrm flipV="1">
            <a:off x="7764801" y="1060704"/>
            <a:ext cx="259201" cy="201168"/>
          </a:xfrm>
          <a:prstGeom prst="line">
            <a:avLst/>
          </a:prstGeom>
          <a:noFill/>
          <a:ln w="15875">
            <a:solidFill>
              <a:srgbClr val="6FCFC0"/>
            </a:solidFill>
            <a:prstDash val="solid"/>
          </a:ln>
        </p:spPr>
      </p:sp>
      <p:sp>
        <p:nvSpPr>
          <p:cNvPr id="23" name="Shape 21"/>
          <p:cNvSpPr/>
          <p:nvPr/>
        </p:nvSpPr>
        <p:spPr>
          <a:xfrm>
            <a:off x="6332078" y="1060704"/>
            <a:ext cx="259201" cy="201168"/>
          </a:xfrm>
          <a:prstGeom prst="line">
            <a:avLst/>
          </a:prstGeom>
          <a:noFill/>
          <a:ln w="15875">
            <a:solidFill>
              <a:srgbClr val="A68BE8"/>
            </a:solidFill>
            <a:prstDash val="solid"/>
          </a:ln>
        </p:spPr>
      </p:sp>
      <p:sp>
        <p:nvSpPr>
          <p:cNvPr id="24" name="Shape 22"/>
          <p:cNvSpPr/>
          <p:nvPr/>
        </p:nvSpPr>
        <p:spPr>
          <a:xfrm flipV="1">
            <a:off x="7300628" y="1261872"/>
            <a:ext cx="464173" cy="201168"/>
          </a:xfrm>
          <a:prstGeom prst="line">
            <a:avLst/>
          </a:prstGeom>
          <a:noFill/>
          <a:ln w="15875">
            <a:solidFill>
              <a:srgbClr val="6FCFC0"/>
            </a:solidFill>
            <a:prstDash val="solid"/>
          </a:ln>
        </p:spPr>
      </p:sp>
      <p:sp>
        <p:nvSpPr>
          <p:cNvPr id="25" name="Shape 23"/>
          <p:cNvSpPr/>
          <p:nvPr/>
        </p:nvSpPr>
        <p:spPr>
          <a:xfrm>
            <a:off x="6591279" y="1261872"/>
            <a:ext cx="464173" cy="201168"/>
          </a:xfrm>
          <a:prstGeom prst="line">
            <a:avLst/>
          </a:prstGeom>
          <a:noFill/>
          <a:ln w="15875">
            <a:solidFill>
              <a:srgbClr val="A68BE8"/>
            </a:solidFill>
            <a:prstDash val="solid"/>
          </a:ln>
        </p:spPr>
      </p:sp>
      <p:sp>
        <p:nvSpPr>
          <p:cNvPr id="26" name="Shape 24"/>
          <p:cNvSpPr/>
          <p:nvPr/>
        </p:nvSpPr>
        <p:spPr>
          <a:xfrm flipV="1">
            <a:off x="6793631" y="1463040"/>
            <a:ext cx="506997" cy="201168"/>
          </a:xfrm>
          <a:prstGeom prst="line">
            <a:avLst/>
          </a:prstGeom>
          <a:noFill/>
          <a:ln w="15875">
            <a:solidFill>
              <a:srgbClr val="6FCFC0"/>
            </a:solidFill>
            <a:prstDash val="solid"/>
          </a:ln>
        </p:spPr>
      </p:sp>
      <p:sp>
        <p:nvSpPr>
          <p:cNvPr id="27" name="Shape 25"/>
          <p:cNvSpPr/>
          <p:nvPr/>
        </p:nvSpPr>
        <p:spPr>
          <a:xfrm>
            <a:off x="7055452" y="1463040"/>
            <a:ext cx="506997" cy="201168"/>
          </a:xfrm>
          <a:prstGeom prst="line">
            <a:avLst/>
          </a:prstGeom>
          <a:noFill/>
          <a:ln w="15875">
            <a:solidFill>
              <a:srgbClr val="A68BE8"/>
            </a:solidFill>
            <a:prstDash val="solid"/>
          </a:ln>
        </p:spPr>
      </p:sp>
      <p:sp>
        <p:nvSpPr>
          <p:cNvPr id="28" name="Shape 26"/>
          <p:cNvSpPr/>
          <p:nvPr/>
        </p:nvSpPr>
        <p:spPr>
          <a:xfrm flipV="1">
            <a:off x="6420920" y="1664208"/>
            <a:ext cx="372712" cy="201168"/>
          </a:xfrm>
          <a:prstGeom prst="line">
            <a:avLst/>
          </a:prstGeom>
          <a:noFill/>
          <a:ln w="15875">
            <a:solidFill>
              <a:srgbClr val="6FCFC0"/>
            </a:solidFill>
            <a:prstDash val="solid"/>
          </a:ln>
        </p:spPr>
      </p:sp>
      <p:sp>
        <p:nvSpPr>
          <p:cNvPr id="29" name="Shape 27"/>
          <p:cNvSpPr/>
          <p:nvPr/>
        </p:nvSpPr>
        <p:spPr>
          <a:xfrm>
            <a:off x="7562449" y="1664208"/>
            <a:ext cx="372712" cy="201168"/>
          </a:xfrm>
          <a:prstGeom prst="line">
            <a:avLst/>
          </a:prstGeom>
          <a:noFill/>
          <a:ln w="15875">
            <a:solidFill>
              <a:srgbClr val="A68BE8"/>
            </a:solidFill>
            <a:prstDash val="solid"/>
          </a:ln>
        </p:spPr>
      </p:sp>
      <p:sp>
        <p:nvSpPr>
          <p:cNvPr id="30" name="Shape 28"/>
          <p:cNvSpPr/>
          <p:nvPr/>
        </p:nvSpPr>
        <p:spPr>
          <a:xfrm flipV="1">
            <a:off x="6312692" y="1865376"/>
            <a:ext cx="108228" cy="201168"/>
          </a:xfrm>
          <a:prstGeom prst="line">
            <a:avLst/>
          </a:prstGeom>
          <a:noFill/>
          <a:ln w="15875">
            <a:solidFill>
              <a:srgbClr val="6FCFC0"/>
            </a:solidFill>
            <a:prstDash val="solid"/>
          </a:ln>
        </p:spPr>
      </p:sp>
      <p:sp>
        <p:nvSpPr>
          <p:cNvPr id="31" name="Shape 29"/>
          <p:cNvSpPr/>
          <p:nvPr/>
        </p:nvSpPr>
        <p:spPr>
          <a:xfrm>
            <a:off x="7935160" y="1865376"/>
            <a:ext cx="108228" cy="201168"/>
          </a:xfrm>
          <a:prstGeom prst="line">
            <a:avLst/>
          </a:prstGeom>
          <a:noFill/>
          <a:ln w="15875">
            <a:solidFill>
              <a:srgbClr val="A68BE8"/>
            </a:solidFill>
            <a:prstDash val="solid"/>
          </a:ln>
        </p:spPr>
      </p:sp>
      <p:sp>
        <p:nvSpPr>
          <p:cNvPr id="32" name="Shape 30"/>
          <p:cNvSpPr/>
          <p:nvPr/>
        </p:nvSpPr>
        <p:spPr>
          <a:xfrm>
            <a:off x="6312692" y="2066544"/>
            <a:ext cx="194063" cy="201168"/>
          </a:xfrm>
          <a:prstGeom prst="line">
            <a:avLst/>
          </a:prstGeom>
          <a:noFill/>
          <a:ln w="15875">
            <a:solidFill>
              <a:srgbClr val="6FCFC0"/>
            </a:solidFill>
            <a:prstDash val="solid"/>
          </a:ln>
        </p:spPr>
      </p:sp>
      <p:sp>
        <p:nvSpPr>
          <p:cNvPr id="33" name="Shape 31"/>
          <p:cNvSpPr/>
          <p:nvPr/>
        </p:nvSpPr>
        <p:spPr>
          <a:xfrm flipV="1">
            <a:off x="7849325" y="2066544"/>
            <a:ext cx="194063" cy="201168"/>
          </a:xfrm>
          <a:prstGeom prst="line">
            <a:avLst/>
          </a:prstGeom>
          <a:noFill/>
          <a:ln w="15875">
            <a:solidFill>
              <a:srgbClr val="A68BE8"/>
            </a:solidFill>
            <a:prstDash val="solid"/>
          </a:ln>
        </p:spPr>
      </p:sp>
      <p:sp>
        <p:nvSpPr>
          <p:cNvPr id="34" name="Shape 32"/>
          <p:cNvSpPr/>
          <p:nvPr/>
        </p:nvSpPr>
        <p:spPr>
          <a:xfrm>
            <a:off x="6506755" y="2267712"/>
            <a:ext cx="428562" cy="201168"/>
          </a:xfrm>
          <a:prstGeom prst="line">
            <a:avLst/>
          </a:prstGeom>
          <a:noFill/>
          <a:ln w="15875">
            <a:solidFill>
              <a:srgbClr val="6FCFC0"/>
            </a:solidFill>
            <a:prstDash val="solid"/>
          </a:ln>
        </p:spPr>
      </p:sp>
      <p:sp>
        <p:nvSpPr>
          <p:cNvPr id="35" name="Shape 33"/>
          <p:cNvSpPr/>
          <p:nvPr/>
        </p:nvSpPr>
        <p:spPr>
          <a:xfrm flipV="1">
            <a:off x="7420763" y="2267712"/>
            <a:ext cx="428562" cy="201168"/>
          </a:xfrm>
          <a:prstGeom prst="line">
            <a:avLst/>
          </a:prstGeom>
          <a:noFill/>
          <a:ln w="15875">
            <a:solidFill>
              <a:srgbClr val="A68BE8"/>
            </a:solidFill>
            <a:prstDash val="solid"/>
          </a:ln>
        </p:spPr>
      </p:sp>
      <p:sp>
        <p:nvSpPr>
          <p:cNvPr id="36" name="Shape 34"/>
          <p:cNvSpPr/>
          <p:nvPr/>
        </p:nvSpPr>
        <p:spPr>
          <a:xfrm>
            <a:off x="6935317" y="2468880"/>
            <a:ext cx="513352" cy="201168"/>
          </a:xfrm>
          <a:prstGeom prst="line">
            <a:avLst/>
          </a:prstGeom>
          <a:noFill/>
          <a:ln w="15875">
            <a:solidFill>
              <a:srgbClr val="6FCFC0"/>
            </a:solidFill>
            <a:prstDash val="solid"/>
          </a:ln>
        </p:spPr>
      </p:sp>
      <p:sp>
        <p:nvSpPr>
          <p:cNvPr id="37" name="Shape 35"/>
          <p:cNvSpPr/>
          <p:nvPr/>
        </p:nvSpPr>
        <p:spPr>
          <a:xfrm flipV="1">
            <a:off x="6907410" y="2468880"/>
            <a:ext cx="513352" cy="201168"/>
          </a:xfrm>
          <a:prstGeom prst="line">
            <a:avLst/>
          </a:prstGeom>
          <a:noFill/>
          <a:ln w="15875">
            <a:solidFill>
              <a:srgbClr val="A68BE8"/>
            </a:solidFill>
            <a:prstDash val="solid"/>
          </a:ln>
        </p:spPr>
      </p:sp>
      <p:sp>
        <p:nvSpPr>
          <p:cNvPr id="38" name="Shape 36"/>
          <p:cNvSpPr/>
          <p:nvPr/>
        </p:nvSpPr>
        <p:spPr>
          <a:xfrm>
            <a:off x="7448670" y="2670048"/>
            <a:ext cx="418814" cy="201168"/>
          </a:xfrm>
          <a:prstGeom prst="line">
            <a:avLst/>
          </a:prstGeom>
          <a:noFill/>
          <a:ln w="15875">
            <a:solidFill>
              <a:srgbClr val="6FCFC0"/>
            </a:solidFill>
            <a:prstDash val="solid"/>
          </a:ln>
        </p:spPr>
      </p:sp>
      <p:sp>
        <p:nvSpPr>
          <p:cNvPr id="39" name="Shape 37"/>
          <p:cNvSpPr/>
          <p:nvPr/>
        </p:nvSpPr>
        <p:spPr>
          <a:xfrm flipV="1">
            <a:off x="6488597" y="2670048"/>
            <a:ext cx="418814" cy="201168"/>
          </a:xfrm>
          <a:prstGeom prst="line">
            <a:avLst/>
          </a:prstGeom>
          <a:noFill/>
          <a:ln w="15875">
            <a:solidFill>
              <a:srgbClr val="A68BE8"/>
            </a:solidFill>
            <a:prstDash val="solid"/>
          </a:ln>
        </p:spPr>
      </p:sp>
      <p:sp>
        <p:nvSpPr>
          <p:cNvPr id="40" name="Shape 38"/>
          <p:cNvSpPr/>
          <p:nvPr/>
        </p:nvSpPr>
        <p:spPr>
          <a:xfrm>
            <a:off x="7867483" y="2871216"/>
            <a:ext cx="177971" cy="201168"/>
          </a:xfrm>
          <a:prstGeom prst="line">
            <a:avLst/>
          </a:prstGeom>
          <a:noFill/>
          <a:ln w="15875">
            <a:solidFill>
              <a:srgbClr val="6FCFC0"/>
            </a:solidFill>
            <a:prstDash val="solid"/>
          </a:ln>
        </p:spPr>
      </p:sp>
      <p:sp>
        <p:nvSpPr>
          <p:cNvPr id="41" name="Shape 39"/>
          <p:cNvSpPr/>
          <p:nvPr/>
        </p:nvSpPr>
        <p:spPr>
          <a:xfrm flipV="1">
            <a:off x="6310625" y="2871216"/>
            <a:ext cx="177971" cy="201168"/>
          </a:xfrm>
          <a:prstGeom prst="line">
            <a:avLst/>
          </a:prstGeom>
          <a:noFill/>
          <a:ln w="15875">
            <a:solidFill>
              <a:srgbClr val="A68BE8"/>
            </a:solidFill>
            <a:prstDash val="solid"/>
          </a:ln>
        </p:spPr>
      </p:sp>
      <p:sp>
        <p:nvSpPr>
          <p:cNvPr id="42" name="Shape 40"/>
          <p:cNvSpPr/>
          <p:nvPr/>
        </p:nvSpPr>
        <p:spPr>
          <a:xfrm flipV="1">
            <a:off x="7920413" y="3072384"/>
            <a:ext cx="125042" cy="201168"/>
          </a:xfrm>
          <a:prstGeom prst="line">
            <a:avLst/>
          </a:prstGeom>
          <a:noFill/>
          <a:ln w="15875">
            <a:solidFill>
              <a:srgbClr val="6FCFC0"/>
            </a:solidFill>
            <a:prstDash val="solid"/>
          </a:ln>
        </p:spPr>
      </p:sp>
      <p:sp>
        <p:nvSpPr>
          <p:cNvPr id="43" name="Shape 41"/>
          <p:cNvSpPr/>
          <p:nvPr/>
        </p:nvSpPr>
        <p:spPr>
          <a:xfrm>
            <a:off x="6310625" y="3072384"/>
            <a:ext cx="125042" cy="201168"/>
          </a:xfrm>
          <a:prstGeom prst="line">
            <a:avLst/>
          </a:prstGeom>
          <a:noFill/>
          <a:ln w="15875">
            <a:solidFill>
              <a:srgbClr val="A68BE8"/>
            </a:solidFill>
            <a:prstDash val="solid"/>
          </a:ln>
        </p:spPr>
      </p:sp>
      <p:sp>
        <p:nvSpPr>
          <p:cNvPr id="44" name="Shape 42"/>
          <p:cNvSpPr/>
          <p:nvPr/>
        </p:nvSpPr>
        <p:spPr>
          <a:xfrm>
            <a:off x="7178040" y="457200"/>
            <a:ext cx="0" cy="0"/>
          </a:xfrm>
          <a:prstGeom prst="line">
            <a:avLst/>
          </a:prstGeom>
          <a:noFill/>
          <a:ln w="12700">
            <a:solidFill>
              <a:srgbClr val="B7A9E6"/>
            </a:solidFill>
            <a:prstDash val="solid"/>
          </a:ln>
        </p:spPr>
      </p:sp>
      <p:sp>
        <p:nvSpPr>
          <p:cNvPr id="45" name="Shape 43"/>
          <p:cNvSpPr/>
          <p:nvPr/>
        </p:nvSpPr>
        <p:spPr>
          <a:xfrm>
            <a:off x="7077456" y="356616"/>
            <a:ext cx="201168" cy="201168"/>
          </a:xfrm>
          <a:prstGeom prst="ellipse">
            <a:avLst/>
          </a:prstGeom>
          <a:solidFill>
            <a:srgbClr val="86DCCB"/>
          </a:solidFill>
          <a:ln w="12700">
            <a:solidFill>
              <a:srgbClr val="86DCCB"/>
            </a:solidFill>
            <a:prstDash val="solid"/>
          </a:ln>
        </p:spPr>
      </p:sp>
      <p:sp>
        <p:nvSpPr>
          <p:cNvPr id="46" name="Shape 44"/>
          <p:cNvSpPr/>
          <p:nvPr/>
        </p:nvSpPr>
        <p:spPr>
          <a:xfrm>
            <a:off x="7141464" y="420624"/>
            <a:ext cx="73152" cy="73152"/>
          </a:xfrm>
          <a:prstGeom prst="ellipse">
            <a:avLst/>
          </a:prstGeom>
          <a:solidFill>
            <a:srgbClr val="BBA6F5"/>
          </a:solidFill>
          <a:ln w="12700">
            <a:solidFill>
              <a:srgbClr val="BBA6F5"/>
            </a:solidFill>
            <a:prstDash val="solid"/>
          </a:ln>
        </p:spPr>
      </p:sp>
      <p:sp>
        <p:nvSpPr>
          <p:cNvPr id="47" name="Shape 45"/>
          <p:cNvSpPr/>
          <p:nvPr/>
        </p:nvSpPr>
        <p:spPr>
          <a:xfrm>
            <a:off x="6687546" y="658368"/>
            <a:ext cx="980987" cy="0"/>
          </a:xfrm>
          <a:prstGeom prst="line">
            <a:avLst/>
          </a:prstGeom>
          <a:noFill/>
          <a:ln w="12700">
            <a:solidFill>
              <a:srgbClr val="B7A9E6"/>
            </a:solidFill>
            <a:prstDash val="solid"/>
          </a:ln>
        </p:spPr>
      </p:sp>
      <p:sp>
        <p:nvSpPr>
          <p:cNvPr id="48" name="Shape 46"/>
          <p:cNvSpPr/>
          <p:nvPr/>
        </p:nvSpPr>
        <p:spPr>
          <a:xfrm>
            <a:off x="7573540" y="563374"/>
            <a:ext cx="189988" cy="189988"/>
          </a:xfrm>
          <a:prstGeom prst="ellipse">
            <a:avLst/>
          </a:prstGeom>
          <a:solidFill>
            <a:srgbClr val="86DCCB"/>
          </a:solidFill>
          <a:ln w="12700">
            <a:solidFill>
              <a:srgbClr val="86DCCB"/>
            </a:solidFill>
            <a:prstDash val="solid"/>
          </a:ln>
        </p:spPr>
      </p:sp>
      <p:sp>
        <p:nvSpPr>
          <p:cNvPr id="49" name="Shape 47"/>
          <p:cNvSpPr/>
          <p:nvPr/>
        </p:nvSpPr>
        <p:spPr>
          <a:xfrm>
            <a:off x="6645380" y="616202"/>
            <a:ext cx="84332" cy="84332"/>
          </a:xfrm>
          <a:prstGeom prst="ellipse">
            <a:avLst/>
          </a:prstGeom>
          <a:solidFill>
            <a:srgbClr val="BBA6F5"/>
          </a:solidFill>
          <a:ln w="12700">
            <a:solidFill>
              <a:srgbClr val="BBA6F5"/>
            </a:solidFill>
            <a:prstDash val="solid"/>
          </a:ln>
        </p:spPr>
      </p:sp>
      <p:sp>
        <p:nvSpPr>
          <p:cNvPr id="50" name="Shape 48"/>
          <p:cNvSpPr/>
          <p:nvPr/>
        </p:nvSpPr>
        <p:spPr>
          <a:xfrm>
            <a:off x="6368396" y="859536"/>
            <a:ext cx="1619287" cy="0"/>
          </a:xfrm>
          <a:prstGeom prst="line">
            <a:avLst/>
          </a:prstGeom>
          <a:noFill/>
          <a:ln w="12700">
            <a:solidFill>
              <a:srgbClr val="B7A9E6"/>
            </a:solidFill>
            <a:prstDash val="solid"/>
          </a:ln>
        </p:spPr>
      </p:sp>
      <p:sp>
        <p:nvSpPr>
          <p:cNvPr id="51" name="Shape 49"/>
          <p:cNvSpPr/>
          <p:nvPr/>
        </p:nvSpPr>
        <p:spPr>
          <a:xfrm>
            <a:off x="7907507" y="779359"/>
            <a:ext cx="160354" cy="160354"/>
          </a:xfrm>
          <a:prstGeom prst="ellipse">
            <a:avLst/>
          </a:prstGeom>
          <a:solidFill>
            <a:srgbClr val="86DCCB"/>
          </a:solidFill>
          <a:ln w="12700">
            <a:solidFill>
              <a:srgbClr val="86DCCB"/>
            </a:solidFill>
            <a:prstDash val="solid"/>
          </a:ln>
        </p:spPr>
      </p:sp>
      <p:sp>
        <p:nvSpPr>
          <p:cNvPr id="52" name="Shape 50"/>
          <p:cNvSpPr/>
          <p:nvPr/>
        </p:nvSpPr>
        <p:spPr>
          <a:xfrm>
            <a:off x="6311413" y="802553"/>
            <a:ext cx="113966" cy="113966"/>
          </a:xfrm>
          <a:prstGeom prst="ellipse">
            <a:avLst/>
          </a:prstGeom>
          <a:solidFill>
            <a:srgbClr val="BBA6F5"/>
          </a:solidFill>
          <a:ln w="12700">
            <a:solidFill>
              <a:srgbClr val="BBA6F5"/>
            </a:solidFill>
            <a:prstDash val="solid"/>
          </a:ln>
        </p:spPr>
      </p:sp>
      <p:sp>
        <p:nvSpPr>
          <p:cNvPr id="53" name="Shape 51"/>
          <p:cNvSpPr/>
          <p:nvPr/>
        </p:nvSpPr>
        <p:spPr>
          <a:xfrm>
            <a:off x="6332078" y="1060704"/>
            <a:ext cx="1691924" cy="0"/>
          </a:xfrm>
          <a:prstGeom prst="line">
            <a:avLst/>
          </a:prstGeom>
          <a:noFill/>
          <a:ln w="12700">
            <a:solidFill>
              <a:srgbClr val="B7A9E6"/>
            </a:solidFill>
            <a:prstDash val="solid"/>
          </a:ln>
        </p:spPr>
      </p:sp>
      <p:sp>
        <p:nvSpPr>
          <p:cNvPr id="54" name="Shape 52"/>
          <p:cNvSpPr/>
          <p:nvPr/>
        </p:nvSpPr>
        <p:spPr>
          <a:xfrm>
            <a:off x="7962693" y="999395"/>
            <a:ext cx="122617" cy="122617"/>
          </a:xfrm>
          <a:prstGeom prst="ellipse">
            <a:avLst/>
          </a:prstGeom>
          <a:solidFill>
            <a:srgbClr val="86DCCB"/>
          </a:solidFill>
          <a:ln w="12700">
            <a:solidFill>
              <a:srgbClr val="86DCCB"/>
            </a:solidFill>
            <a:prstDash val="solid"/>
          </a:ln>
        </p:spPr>
      </p:sp>
      <p:sp>
        <p:nvSpPr>
          <p:cNvPr id="55" name="Shape 53"/>
          <p:cNvSpPr/>
          <p:nvPr/>
        </p:nvSpPr>
        <p:spPr>
          <a:xfrm>
            <a:off x="6256227" y="984853"/>
            <a:ext cx="151703" cy="151703"/>
          </a:xfrm>
          <a:prstGeom prst="ellipse">
            <a:avLst/>
          </a:prstGeom>
          <a:solidFill>
            <a:srgbClr val="BBA6F5"/>
          </a:solidFill>
          <a:ln w="12700">
            <a:solidFill>
              <a:srgbClr val="BBA6F5"/>
            </a:solidFill>
            <a:prstDash val="solid"/>
          </a:ln>
        </p:spPr>
      </p:sp>
      <p:sp>
        <p:nvSpPr>
          <p:cNvPr id="56" name="Shape 54"/>
          <p:cNvSpPr/>
          <p:nvPr/>
        </p:nvSpPr>
        <p:spPr>
          <a:xfrm>
            <a:off x="6591279" y="1261872"/>
            <a:ext cx="1173523" cy="0"/>
          </a:xfrm>
          <a:prstGeom prst="line">
            <a:avLst/>
          </a:prstGeom>
          <a:noFill/>
          <a:ln w="12700">
            <a:solidFill>
              <a:srgbClr val="B7A9E6"/>
            </a:solidFill>
            <a:prstDash val="solid"/>
          </a:ln>
        </p:spPr>
      </p:sp>
      <p:sp>
        <p:nvSpPr>
          <p:cNvPr id="57" name="Shape 55"/>
          <p:cNvSpPr/>
          <p:nvPr/>
        </p:nvSpPr>
        <p:spPr>
          <a:xfrm>
            <a:off x="7719821" y="1216892"/>
            <a:ext cx="89961" cy="89961"/>
          </a:xfrm>
          <a:prstGeom prst="ellipse">
            <a:avLst/>
          </a:prstGeom>
          <a:solidFill>
            <a:srgbClr val="86DCCB"/>
          </a:solidFill>
          <a:ln w="12700">
            <a:solidFill>
              <a:srgbClr val="86DCCB"/>
            </a:solidFill>
            <a:prstDash val="solid"/>
          </a:ln>
        </p:spPr>
      </p:sp>
      <p:sp>
        <p:nvSpPr>
          <p:cNvPr id="58" name="Shape 56"/>
          <p:cNvSpPr/>
          <p:nvPr/>
        </p:nvSpPr>
        <p:spPr>
          <a:xfrm>
            <a:off x="6499099" y="1169692"/>
            <a:ext cx="184359" cy="184359"/>
          </a:xfrm>
          <a:prstGeom prst="ellipse">
            <a:avLst/>
          </a:prstGeom>
          <a:solidFill>
            <a:srgbClr val="BBA6F5"/>
          </a:solidFill>
          <a:ln w="12700">
            <a:solidFill>
              <a:srgbClr val="BBA6F5"/>
            </a:solidFill>
            <a:prstDash val="solid"/>
          </a:ln>
        </p:spPr>
      </p:sp>
      <p:sp>
        <p:nvSpPr>
          <p:cNvPr id="59" name="Shape 57"/>
          <p:cNvSpPr/>
          <p:nvPr/>
        </p:nvSpPr>
        <p:spPr>
          <a:xfrm>
            <a:off x="7055452" y="1463040"/>
            <a:ext cx="245176" cy="0"/>
          </a:xfrm>
          <a:prstGeom prst="line">
            <a:avLst/>
          </a:prstGeom>
          <a:noFill/>
          <a:ln w="12700">
            <a:solidFill>
              <a:srgbClr val="B7A9E6"/>
            </a:solidFill>
            <a:prstDash val="solid"/>
          </a:ln>
        </p:spPr>
      </p:sp>
      <p:sp>
        <p:nvSpPr>
          <p:cNvPr id="60" name="Shape 58"/>
          <p:cNvSpPr/>
          <p:nvPr/>
        </p:nvSpPr>
        <p:spPr>
          <a:xfrm>
            <a:off x="7263732" y="1426144"/>
            <a:ext cx="73793" cy="73793"/>
          </a:xfrm>
          <a:prstGeom prst="ellipse">
            <a:avLst/>
          </a:prstGeom>
          <a:solidFill>
            <a:srgbClr val="86DCCB"/>
          </a:solidFill>
          <a:ln w="12700">
            <a:solidFill>
              <a:srgbClr val="86DCCB"/>
            </a:solidFill>
            <a:prstDash val="solid"/>
          </a:ln>
        </p:spPr>
      </p:sp>
      <p:sp>
        <p:nvSpPr>
          <p:cNvPr id="61" name="Shape 59"/>
          <p:cNvSpPr/>
          <p:nvPr/>
        </p:nvSpPr>
        <p:spPr>
          <a:xfrm>
            <a:off x="6955188" y="1362776"/>
            <a:ext cx="200527" cy="200527"/>
          </a:xfrm>
          <a:prstGeom prst="ellipse">
            <a:avLst/>
          </a:prstGeom>
          <a:solidFill>
            <a:srgbClr val="BBA6F5"/>
          </a:solidFill>
          <a:ln w="12700">
            <a:solidFill>
              <a:srgbClr val="BBA6F5"/>
            </a:solidFill>
            <a:prstDash val="solid"/>
          </a:ln>
        </p:spPr>
      </p:sp>
      <p:sp>
        <p:nvSpPr>
          <p:cNvPr id="62" name="Shape 60"/>
          <p:cNvSpPr/>
          <p:nvPr/>
        </p:nvSpPr>
        <p:spPr>
          <a:xfrm>
            <a:off x="6793631" y="1664208"/>
            <a:ext cx="768817" cy="0"/>
          </a:xfrm>
          <a:prstGeom prst="line">
            <a:avLst/>
          </a:prstGeom>
          <a:noFill/>
          <a:ln w="12700">
            <a:solidFill>
              <a:srgbClr val="B7A9E6"/>
            </a:solidFill>
            <a:prstDash val="solid"/>
          </a:ln>
        </p:spPr>
      </p:sp>
      <p:sp>
        <p:nvSpPr>
          <p:cNvPr id="63" name="Shape 61"/>
          <p:cNvSpPr/>
          <p:nvPr/>
        </p:nvSpPr>
        <p:spPr>
          <a:xfrm>
            <a:off x="6753751" y="1624328"/>
            <a:ext cx="79760" cy="79760"/>
          </a:xfrm>
          <a:prstGeom prst="ellipse">
            <a:avLst/>
          </a:prstGeom>
          <a:solidFill>
            <a:srgbClr val="86DCCB"/>
          </a:solidFill>
          <a:ln w="12700">
            <a:solidFill>
              <a:srgbClr val="86DCCB"/>
            </a:solidFill>
            <a:prstDash val="solid"/>
          </a:ln>
        </p:spPr>
      </p:sp>
      <p:sp>
        <p:nvSpPr>
          <p:cNvPr id="64" name="Shape 62"/>
          <p:cNvSpPr/>
          <p:nvPr/>
        </p:nvSpPr>
        <p:spPr>
          <a:xfrm>
            <a:off x="7465169" y="1566928"/>
            <a:ext cx="194560" cy="194560"/>
          </a:xfrm>
          <a:prstGeom prst="ellipse">
            <a:avLst/>
          </a:prstGeom>
          <a:solidFill>
            <a:srgbClr val="BBA6F5"/>
          </a:solidFill>
          <a:ln w="12700">
            <a:solidFill>
              <a:srgbClr val="BBA6F5"/>
            </a:solidFill>
            <a:prstDash val="solid"/>
          </a:ln>
        </p:spPr>
      </p:sp>
      <p:sp>
        <p:nvSpPr>
          <p:cNvPr id="65" name="Shape 63"/>
          <p:cNvSpPr/>
          <p:nvPr/>
        </p:nvSpPr>
        <p:spPr>
          <a:xfrm>
            <a:off x="6420920" y="1865376"/>
            <a:ext cx="1514241" cy="0"/>
          </a:xfrm>
          <a:prstGeom prst="line">
            <a:avLst/>
          </a:prstGeom>
          <a:noFill/>
          <a:ln w="12700">
            <a:solidFill>
              <a:srgbClr val="B7A9E6"/>
            </a:solidFill>
            <a:prstDash val="solid"/>
          </a:ln>
        </p:spPr>
      </p:sp>
      <p:sp>
        <p:nvSpPr>
          <p:cNvPr id="66" name="Shape 64"/>
          <p:cNvSpPr/>
          <p:nvPr/>
        </p:nvSpPr>
        <p:spPr>
          <a:xfrm>
            <a:off x="6368030" y="1812486"/>
            <a:ext cx="105779" cy="105779"/>
          </a:xfrm>
          <a:prstGeom prst="ellipse">
            <a:avLst/>
          </a:prstGeom>
          <a:solidFill>
            <a:srgbClr val="86DCCB"/>
          </a:solidFill>
          <a:ln w="12700">
            <a:solidFill>
              <a:srgbClr val="86DCCB"/>
            </a:solidFill>
            <a:prstDash val="solid"/>
          </a:ln>
        </p:spPr>
      </p:sp>
      <p:sp>
        <p:nvSpPr>
          <p:cNvPr id="67" name="Shape 65"/>
          <p:cNvSpPr/>
          <p:nvPr/>
        </p:nvSpPr>
        <p:spPr>
          <a:xfrm>
            <a:off x="7850890" y="1781106"/>
            <a:ext cx="168541" cy="168541"/>
          </a:xfrm>
          <a:prstGeom prst="ellipse">
            <a:avLst/>
          </a:prstGeom>
          <a:solidFill>
            <a:srgbClr val="BBA6F5"/>
          </a:solidFill>
          <a:ln w="12700">
            <a:solidFill>
              <a:srgbClr val="BBA6F5"/>
            </a:solidFill>
            <a:prstDash val="solid"/>
          </a:ln>
        </p:spPr>
      </p:sp>
      <p:sp>
        <p:nvSpPr>
          <p:cNvPr id="68" name="Shape 66"/>
          <p:cNvSpPr/>
          <p:nvPr/>
        </p:nvSpPr>
        <p:spPr>
          <a:xfrm>
            <a:off x="6312692" y="2066544"/>
            <a:ext cx="1730697" cy="0"/>
          </a:xfrm>
          <a:prstGeom prst="line">
            <a:avLst/>
          </a:prstGeom>
          <a:noFill/>
          <a:ln w="12700">
            <a:solidFill>
              <a:srgbClr val="B7A9E6"/>
            </a:solidFill>
            <a:prstDash val="solid"/>
          </a:ln>
        </p:spPr>
      </p:sp>
      <p:sp>
        <p:nvSpPr>
          <p:cNvPr id="69" name="Shape 67"/>
          <p:cNvSpPr/>
          <p:nvPr/>
        </p:nvSpPr>
        <p:spPr>
          <a:xfrm>
            <a:off x="6241311" y="1995164"/>
            <a:ext cx="142761" cy="142761"/>
          </a:xfrm>
          <a:prstGeom prst="ellipse">
            <a:avLst/>
          </a:prstGeom>
          <a:solidFill>
            <a:srgbClr val="86DCCB"/>
          </a:solidFill>
          <a:ln w="12700">
            <a:solidFill>
              <a:srgbClr val="86DCCB"/>
            </a:solidFill>
            <a:prstDash val="solid"/>
          </a:ln>
        </p:spPr>
      </p:sp>
      <p:sp>
        <p:nvSpPr>
          <p:cNvPr id="70" name="Shape 68"/>
          <p:cNvSpPr/>
          <p:nvPr/>
        </p:nvSpPr>
        <p:spPr>
          <a:xfrm>
            <a:off x="7977609" y="2000764"/>
            <a:ext cx="131559" cy="131559"/>
          </a:xfrm>
          <a:prstGeom prst="ellipse">
            <a:avLst/>
          </a:prstGeom>
          <a:solidFill>
            <a:srgbClr val="BBA6F5"/>
          </a:solidFill>
          <a:ln w="12700">
            <a:solidFill>
              <a:srgbClr val="BBA6F5"/>
            </a:solidFill>
            <a:prstDash val="solid"/>
          </a:ln>
        </p:spPr>
      </p:sp>
      <p:sp>
        <p:nvSpPr>
          <p:cNvPr id="71" name="Shape 69"/>
          <p:cNvSpPr/>
          <p:nvPr/>
        </p:nvSpPr>
        <p:spPr>
          <a:xfrm>
            <a:off x="6506755" y="2267712"/>
            <a:ext cx="1342570" cy="0"/>
          </a:xfrm>
          <a:prstGeom prst="line">
            <a:avLst/>
          </a:prstGeom>
          <a:noFill/>
          <a:ln w="12700">
            <a:solidFill>
              <a:srgbClr val="B7A9E6"/>
            </a:solidFill>
            <a:prstDash val="solid"/>
          </a:ln>
        </p:spPr>
      </p:sp>
      <p:sp>
        <p:nvSpPr>
          <p:cNvPr id="72" name="Shape 70"/>
          <p:cNvSpPr/>
          <p:nvPr/>
        </p:nvSpPr>
        <p:spPr>
          <a:xfrm>
            <a:off x="6417862" y="2178819"/>
            <a:ext cx="177785" cy="177785"/>
          </a:xfrm>
          <a:prstGeom prst="ellipse">
            <a:avLst/>
          </a:prstGeom>
          <a:solidFill>
            <a:srgbClr val="86DCCB"/>
          </a:solidFill>
          <a:ln w="12700">
            <a:solidFill>
              <a:srgbClr val="86DCCB"/>
            </a:solidFill>
            <a:prstDash val="solid"/>
          </a:ln>
        </p:spPr>
      </p:sp>
      <p:sp>
        <p:nvSpPr>
          <p:cNvPr id="73" name="Shape 71"/>
          <p:cNvSpPr/>
          <p:nvPr/>
        </p:nvSpPr>
        <p:spPr>
          <a:xfrm>
            <a:off x="7801058" y="2219445"/>
            <a:ext cx="96535" cy="96535"/>
          </a:xfrm>
          <a:prstGeom prst="ellipse">
            <a:avLst/>
          </a:prstGeom>
          <a:solidFill>
            <a:srgbClr val="BBA6F5"/>
          </a:solidFill>
          <a:ln w="12700">
            <a:solidFill>
              <a:srgbClr val="BBA6F5"/>
            </a:solidFill>
            <a:prstDash val="solid"/>
          </a:ln>
        </p:spPr>
      </p:sp>
      <p:sp>
        <p:nvSpPr>
          <p:cNvPr id="74" name="Shape 72"/>
          <p:cNvSpPr/>
          <p:nvPr/>
        </p:nvSpPr>
        <p:spPr>
          <a:xfrm>
            <a:off x="6935317" y="2468880"/>
            <a:ext cx="485445" cy="0"/>
          </a:xfrm>
          <a:prstGeom prst="line">
            <a:avLst/>
          </a:prstGeom>
          <a:noFill/>
          <a:ln w="12700">
            <a:solidFill>
              <a:srgbClr val="B7A9E6"/>
            </a:solidFill>
            <a:prstDash val="solid"/>
          </a:ln>
        </p:spPr>
      </p:sp>
      <p:sp>
        <p:nvSpPr>
          <p:cNvPr id="75" name="Shape 73"/>
          <p:cNvSpPr/>
          <p:nvPr/>
        </p:nvSpPr>
        <p:spPr>
          <a:xfrm>
            <a:off x="6836008" y="2369571"/>
            <a:ext cx="198619" cy="198619"/>
          </a:xfrm>
          <a:prstGeom prst="ellipse">
            <a:avLst/>
          </a:prstGeom>
          <a:solidFill>
            <a:srgbClr val="86DCCB"/>
          </a:solidFill>
          <a:ln w="12700">
            <a:solidFill>
              <a:srgbClr val="86DCCB"/>
            </a:solidFill>
            <a:prstDash val="solid"/>
          </a:ln>
        </p:spPr>
      </p:sp>
      <p:sp>
        <p:nvSpPr>
          <p:cNvPr id="76" name="Shape 74"/>
          <p:cNvSpPr/>
          <p:nvPr/>
        </p:nvSpPr>
        <p:spPr>
          <a:xfrm>
            <a:off x="7382912" y="2431029"/>
            <a:ext cx="75701" cy="75701"/>
          </a:xfrm>
          <a:prstGeom prst="ellipse">
            <a:avLst/>
          </a:prstGeom>
          <a:solidFill>
            <a:srgbClr val="BBA6F5"/>
          </a:solidFill>
          <a:ln w="12700">
            <a:solidFill>
              <a:srgbClr val="BBA6F5"/>
            </a:solidFill>
            <a:prstDash val="solid"/>
          </a:ln>
        </p:spPr>
      </p:sp>
      <p:sp>
        <p:nvSpPr>
          <p:cNvPr id="77" name="Shape 75"/>
          <p:cNvSpPr/>
          <p:nvPr/>
        </p:nvSpPr>
        <p:spPr>
          <a:xfrm>
            <a:off x="6907410" y="2670048"/>
            <a:ext cx="541260" cy="0"/>
          </a:xfrm>
          <a:prstGeom prst="line">
            <a:avLst/>
          </a:prstGeom>
          <a:noFill/>
          <a:ln w="12700">
            <a:solidFill>
              <a:srgbClr val="B7A9E6"/>
            </a:solidFill>
            <a:prstDash val="solid"/>
          </a:ln>
        </p:spPr>
      </p:sp>
      <p:sp>
        <p:nvSpPr>
          <p:cNvPr id="78" name="Shape 76"/>
          <p:cNvSpPr/>
          <p:nvPr/>
        </p:nvSpPr>
        <p:spPr>
          <a:xfrm>
            <a:off x="7349679" y="2571057"/>
            <a:ext cx="197982" cy="197982"/>
          </a:xfrm>
          <a:prstGeom prst="ellipse">
            <a:avLst/>
          </a:prstGeom>
          <a:solidFill>
            <a:srgbClr val="86DCCB"/>
          </a:solidFill>
          <a:ln w="12700">
            <a:solidFill>
              <a:srgbClr val="86DCCB"/>
            </a:solidFill>
            <a:prstDash val="solid"/>
          </a:ln>
        </p:spPr>
      </p:sp>
      <p:sp>
        <p:nvSpPr>
          <p:cNvPr id="79" name="Shape 77"/>
          <p:cNvSpPr/>
          <p:nvPr/>
        </p:nvSpPr>
        <p:spPr>
          <a:xfrm>
            <a:off x="6869241" y="2631879"/>
            <a:ext cx="76338" cy="76338"/>
          </a:xfrm>
          <a:prstGeom prst="ellipse">
            <a:avLst/>
          </a:prstGeom>
          <a:solidFill>
            <a:srgbClr val="BBA6F5"/>
          </a:solidFill>
          <a:ln w="12700">
            <a:solidFill>
              <a:srgbClr val="BBA6F5"/>
            </a:solidFill>
            <a:prstDash val="solid"/>
          </a:ln>
        </p:spPr>
      </p:sp>
      <p:sp>
        <p:nvSpPr>
          <p:cNvPr id="80" name="Shape 78"/>
          <p:cNvSpPr/>
          <p:nvPr/>
        </p:nvSpPr>
        <p:spPr>
          <a:xfrm>
            <a:off x="6488597" y="2871216"/>
            <a:ext cx="1378887" cy="0"/>
          </a:xfrm>
          <a:prstGeom prst="line">
            <a:avLst/>
          </a:prstGeom>
          <a:noFill/>
          <a:ln w="12700">
            <a:solidFill>
              <a:srgbClr val="B7A9E6"/>
            </a:solidFill>
            <a:prstDash val="solid"/>
          </a:ln>
        </p:spPr>
      </p:sp>
      <p:sp>
        <p:nvSpPr>
          <p:cNvPr id="81" name="Shape 79"/>
          <p:cNvSpPr/>
          <p:nvPr/>
        </p:nvSpPr>
        <p:spPr>
          <a:xfrm>
            <a:off x="7779434" y="2783166"/>
            <a:ext cx="176099" cy="176099"/>
          </a:xfrm>
          <a:prstGeom prst="ellipse">
            <a:avLst/>
          </a:prstGeom>
          <a:solidFill>
            <a:srgbClr val="86DCCB"/>
          </a:solidFill>
          <a:ln w="12700">
            <a:solidFill>
              <a:srgbClr val="86DCCB"/>
            </a:solidFill>
            <a:prstDash val="solid"/>
          </a:ln>
        </p:spPr>
      </p:sp>
      <p:sp>
        <p:nvSpPr>
          <p:cNvPr id="82" name="Shape 80"/>
          <p:cNvSpPr/>
          <p:nvPr/>
        </p:nvSpPr>
        <p:spPr>
          <a:xfrm>
            <a:off x="6439486" y="2822106"/>
            <a:ext cx="98221" cy="98221"/>
          </a:xfrm>
          <a:prstGeom prst="ellipse">
            <a:avLst/>
          </a:prstGeom>
          <a:solidFill>
            <a:srgbClr val="BBA6F5"/>
          </a:solidFill>
          <a:ln w="12700">
            <a:solidFill>
              <a:srgbClr val="BBA6F5"/>
            </a:solidFill>
            <a:prstDash val="solid"/>
          </a:ln>
        </p:spPr>
      </p:sp>
      <p:sp>
        <p:nvSpPr>
          <p:cNvPr id="83" name="Shape 81"/>
          <p:cNvSpPr/>
          <p:nvPr/>
        </p:nvSpPr>
        <p:spPr>
          <a:xfrm>
            <a:off x="6310625" y="3072384"/>
            <a:ext cx="1734829" cy="0"/>
          </a:xfrm>
          <a:prstGeom prst="line">
            <a:avLst/>
          </a:prstGeom>
          <a:noFill/>
          <a:ln w="12700">
            <a:solidFill>
              <a:srgbClr val="B7A9E6"/>
            </a:solidFill>
            <a:prstDash val="solid"/>
          </a:ln>
        </p:spPr>
      </p:sp>
      <p:sp>
        <p:nvSpPr>
          <p:cNvPr id="84" name="Shape 82"/>
          <p:cNvSpPr/>
          <p:nvPr/>
        </p:nvSpPr>
        <p:spPr>
          <a:xfrm>
            <a:off x="7975148" y="3002077"/>
            <a:ext cx="140614" cy="140614"/>
          </a:xfrm>
          <a:prstGeom prst="ellipse">
            <a:avLst/>
          </a:prstGeom>
          <a:solidFill>
            <a:srgbClr val="86DCCB"/>
          </a:solidFill>
          <a:ln w="12700">
            <a:solidFill>
              <a:srgbClr val="86DCCB"/>
            </a:solidFill>
            <a:prstDash val="solid"/>
          </a:ln>
        </p:spPr>
      </p:sp>
      <p:sp>
        <p:nvSpPr>
          <p:cNvPr id="85" name="Shape 83"/>
          <p:cNvSpPr/>
          <p:nvPr/>
        </p:nvSpPr>
        <p:spPr>
          <a:xfrm>
            <a:off x="6243772" y="3005531"/>
            <a:ext cx="133706" cy="133706"/>
          </a:xfrm>
          <a:prstGeom prst="ellipse">
            <a:avLst/>
          </a:prstGeom>
          <a:solidFill>
            <a:srgbClr val="BBA6F5"/>
          </a:solidFill>
          <a:ln w="12700">
            <a:solidFill>
              <a:srgbClr val="BBA6F5"/>
            </a:solidFill>
            <a:prstDash val="solid"/>
          </a:ln>
        </p:spPr>
      </p:sp>
      <p:sp>
        <p:nvSpPr>
          <p:cNvPr id="86" name="Shape 84"/>
          <p:cNvSpPr/>
          <p:nvPr/>
        </p:nvSpPr>
        <p:spPr>
          <a:xfrm>
            <a:off x="6435667" y="3273552"/>
            <a:ext cx="1484746" cy="0"/>
          </a:xfrm>
          <a:prstGeom prst="line">
            <a:avLst/>
          </a:prstGeom>
          <a:noFill/>
          <a:ln w="12700">
            <a:solidFill>
              <a:srgbClr val="B7A9E6"/>
            </a:solidFill>
            <a:prstDash val="solid"/>
          </a:ln>
        </p:spPr>
      </p:sp>
      <p:sp>
        <p:nvSpPr>
          <p:cNvPr id="87" name="Shape 85"/>
          <p:cNvSpPr/>
          <p:nvPr/>
        </p:nvSpPr>
        <p:spPr>
          <a:xfrm>
            <a:off x="7868452" y="3221591"/>
            <a:ext cx="103921" cy="103921"/>
          </a:xfrm>
          <a:prstGeom prst="ellipse">
            <a:avLst/>
          </a:prstGeom>
          <a:solidFill>
            <a:srgbClr val="86DCCB"/>
          </a:solidFill>
          <a:ln w="12700">
            <a:solidFill>
              <a:srgbClr val="86DCCB"/>
            </a:solidFill>
            <a:prstDash val="solid"/>
          </a:ln>
        </p:spPr>
      </p:sp>
      <p:sp>
        <p:nvSpPr>
          <p:cNvPr id="88" name="Shape 86"/>
          <p:cNvSpPr/>
          <p:nvPr/>
        </p:nvSpPr>
        <p:spPr>
          <a:xfrm>
            <a:off x="6350468" y="3188353"/>
            <a:ext cx="170399" cy="170399"/>
          </a:xfrm>
          <a:prstGeom prst="ellipse">
            <a:avLst/>
          </a:prstGeom>
          <a:solidFill>
            <a:srgbClr val="BBA6F5"/>
          </a:solidFill>
          <a:ln w="12700">
            <a:solidFill>
              <a:srgbClr val="BBA6F5"/>
            </a:solidFill>
            <a:prstDash val="solid"/>
          </a:ln>
        </p:spPr>
      </p:sp>
      <p:sp>
        <p:nvSpPr>
          <p:cNvPr id="89" name="Shape 87"/>
          <p:cNvSpPr/>
          <p:nvPr/>
        </p:nvSpPr>
        <p:spPr>
          <a:xfrm>
            <a:off x="5029200" y="3840480"/>
            <a:ext cx="868680" cy="292608"/>
          </a:xfrm>
          <a:prstGeom prst="roundRect">
            <a:avLst>
              <a:gd name="adj" fmla="val 18750"/>
            </a:avLst>
          </a:prstGeom>
          <a:solidFill>
            <a:srgbClr val="EAE4FB"/>
          </a:solidFill>
          <a:ln w="9525">
            <a:solidFill>
              <a:srgbClr val="D9D0F2"/>
            </a:solidFill>
            <a:prstDash val="solid"/>
          </a:ln>
        </p:spPr>
      </p:sp>
      <p:sp>
        <p:nvSpPr>
          <p:cNvPr id="90" name="Text 88"/>
          <p:cNvSpPr txBox="1"/>
          <p:nvPr/>
        </p:nvSpPr>
        <p:spPr>
          <a:xfrm>
            <a:off x="5029200" y="3840480"/>
            <a:ext cx="868680" cy="292608"/>
          </a:xfrm>
          <a:prstGeom prst="rect">
            <a:avLst/>
          </a:prstGeom>
          <a:noFill/>
          <a:ln/>
        </p:spPr>
        <p:txBody>
          <a:bodyPr wrap="square" lIns="0" tIns="0" rIns="0" bIns="0" rtlCol="0" anchor="ctr"/>
          <a:lstStyle/>
          <a:p>
            <a:pPr marL="0" indent="0" algn="ctr">
              <a:buNone/>
            </a:pPr>
            <a:r>
              <a:rPr lang="en-US" sz="1200" b="1" dirty="0">
                <a:solidFill>
                  <a:srgbClr val="0F766E"/>
                </a:solidFill>
                <a:latin typeface="Calibri" pitchFamily="34" charset="0"/>
                <a:ea typeface="Calibri" pitchFamily="34" charset="-122"/>
                <a:cs typeface="Calibri" pitchFamily="34" charset="-120"/>
              </a:rPr>
              <a:t>DNA A</a:t>
            </a:r>
            <a:endParaRPr lang="en-US" sz="1200" dirty="0"/>
          </a:p>
        </p:txBody>
      </p:sp>
      <p:sp>
        <p:nvSpPr>
          <p:cNvPr id="91" name="Shape 89"/>
          <p:cNvSpPr/>
          <p:nvPr/>
        </p:nvSpPr>
        <p:spPr>
          <a:xfrm>
            <a:off x="5029200" y="4224528"/>
            <a:ext cx="868680" cy="292608"/>
          </a:xfrm>
          <a:prstGeom prst="roundRect">
            <a:avLst>
              <a:gd name="adj" fmla="val 18750"/>
            </a:avLst>
          </a:prstGeom>
          <a:solidFill>
            <a:srgbClr val="EAE4FB"/>
          </a:solidFill>
          <a:ln w="9525">
            <a:solidFill>
              <a:srgbClr val="D9D0F2"/>
            </a:solidFill>
            <a:prstDash val="solid"/>
          </a:ln>
        </p:spPr>
      </p:sp>
      <p:sp>
        <p:nvSpPr>
          <p:cNvPr id="92" name="Text 90"/>
          <p:cNvSpPr txBox="1"/>
          <p:nvPr/>
        </p:nvSpPr>
        <p:spPr>
          <a:xfrm>
            <a:off x="5029200" y="4224528"/>
            <a:ext cx="868680" cy="292608"/>
          </a:xfrm>
          <a:prstGeom prst="rect">
            <a:avLst/>
          </a:prstGeom>
          <a:noFill/>
          <a:ln/>
        </p:spPr>
        <p:txBody>
          <a:bodyPr wrap="square" lIns="0" tIns="0" rIns="0" bIns="0" rtlCol="0" anchor="ctr"/>
          <a:lstStyle/>
          <a:p>
            <a:pPr marL="0" indent="0" algn="ctr">
              <a:buNone/>
            </a:pPr>
            <a:r>
              <a:rPr lang="en-US" sz="1200" b="1" dirty="0">
                <a:solidFill>
                  <a:srgbClr val="6B46C1"/>
                </a:solidFill>
                <a:latin typeface="Calibri" pitchFamily="34" charset="0"/>
                <a:ea typeface="Calibri" pitchFamily="34" charset="-122"/>
                <a:cs typeface="Calibri" pitchFamily="34" charset="-120"/>
              </a:rPr>
              <a:t>DNA B</a:t>
            </a:r>
            <a:endParaRPr lang="en-US" sz="1200" dirty="0"/>
          </a:p>
        </p:txBody>
      </p:sp>
      <p:sp>
        <p:nvSpPr>
          <p:cNvPr id="93" name="Shape 91"/>
          <p:cNvSpPr/>
          <p:nvPr/>
        </p:nvSpPr>
        <p:spPr>
          <a:xfrm>
            <a:off x="5897880" y="3986784"/>
            <a:ext cx="365760" cy="192024"/>
          </a:xfrm>
          <a:prstGeom prst="line">
            <a:avLst/>
          </a:prstGeom>
          <a:noFill/>
          <a:ln w="12700">
            <a:solidFill>
              <a:srgbClr val="6B6890"/>
            </a:solidFill>
            <a:prstDash val="solid"/>
          </a:ln>
        </p:spPr>
      </p:sp>
      <p:sp>
        <p:nvSpPr>
          <p:cNvPr id="94" name="Shape 92"/>
          <p:cNvSpPr/>
          <p:nvPr/>
        </p:nvSpPr>
        <p:spPr>
          <a:xfrm flipV="1">
            <a:off x="5897880" y="4178808"/>
            <a:ext cx="365760" cy="192024"/>
          </a:xfrm>
          <a:prstGeom prst="line">
            <a:avLst/>
          </a:prstGeom>
          <a:noFill/>
          <a:ln w="12700">
            <a:solidFill>
              <a:srgbClr val="6B6890"/>
            </a:solidFill>
            <a:prstDash val="solid"/>
          </a:ln>
        </p:spPr>
      </p:sp>
      <p:sp>
        <p:nvSpPr>
          <p:cNvPr id="95" name="Shape 93"/>
          <p:cNvSpPr/>
          <p:nvPr/>
        </p:nvSpPr>
        <p:spPr>
          <a:xfrm>
            <a:off x="6263640" y="3995928"/>
            <a:ext cx="1463040" cy="365760"/>
          </a:xfrm>
          <a:prstGeom prst="roundRect">
            <a:avLst>
              <a:gd name="adj" fmla="val 15000"/>
            </a:avLst>
          </a:prstGeom>
          <a:solidFill>
            <a:srgbClr val="86DCCB"/>
          </a:solidFill>
          <a:ln w="9525">
            <a:solidFill>
              <a:srgbClr val="86DCCB"/>
            </a:solidFill>
            <a:prstDash val="solid"/>
          </a:ln>
        </p:spPr>
      </p:sp>
      <p:sp>
        <p:nvSpPr>
          <p:cNvPr id="96" name="Text 94"/>
          <p:cNvSpPr txBox="1"/>
          <p:nvPr/>
        </p:nvSpPr>
        <p:spPr>
          <a:xfrm>
            <a:off x="6263640" y="3995928"/>
            <a:ext cx="1463040" cy="365760"/>
          </a:xfrm>
          <a:prstGeom prst="rect">
            <a:avLst/>
          </a:prstGeom>
          <a:noFill/>
          <a:ln/>
        </p:spPr>
        <p:txBody>
          <a:bodyPr wrap="square" lIns="0" tIns="0" rIns="0" bIns="0" rtlCol="0" anchor="ctr"/>
          <a:lstStyle/>
          <a:p>
            <a:pPr marL="0" indent="0" algn="ctr">
              <a:buNone/>
            </a:pPr>
            <a:r>
              <a:rPr lang="en-US" sz="1100" b="1" dirty="0">
                <a:solidFill>
                  <a:srgbClr val="2B2A4C"/>
                </a:solidFill>
                <a:latin typeface="Calibri" pitchFamily="34" charset="0"/>
                <a:ea typeface="Calibri" pitchFamily="34" charset="-122"/>
                <a:cs typeface="Calibri" pitchFamily="34" charset="-120"/>
              </a:rPr>
              <a:t>COMMON THREAD</a:t>
            </a:r>
            <a:endParaRPr lang="en-US" sz="1100" dirty="0"/>
          </a:p>
        </p:txBody>
      </p:sp>
      <p:sp>
        <p:nvSpPr>
          <p:cNvPr id="97" name="Shape 95"/>
          <p:cNvSpPr/>
          <p:nvPr/>
        </p:nvSpPr>
        <p:spPr>
          <a:xfrm>
            <a:off x="7726680" y="4178808"/>
            <a:ext cx="274320" cy="0"/>
          </a:xfrm>
          <a:prstGeom prst="line">
            <a:avLst/>
          </a:prstGeom>
          <a:noFill/>
          <a:ln w="15875">
            <a:solidFill>
              <a:srgbClr val="6B6890"/>
            </a:solidFill>
            <a:prstDash val="solid"/>
            <a:tailEnd type="triangle"/>
          </a:ln>
        </p:spPr>
      </p:sp>
      <p:sp>
        <p:nvSpPr>
          <p:cNvPr id="98" name="Shape 96"/>
          <p:cNvSpPr/>
          <p:nvPr/>
        </p:nvSpPr>
        <p:spPr>
          <a:xfrm>
            <a:off x="8001000" y="3995928"/>
            <a:ext cx="731520" cy="365760"/>
          </a:xfrm>
          <a:prstGeom prst="roundRect">
            <a:avLst>
              <a:gd name="adj" fmla="val 15000"/>
            </a:avLst>
          </a:prstGeom>
          <a:solidFill>
            <a:srgbClr val="BBA6F5"/>
          </a:solidFill>
          <a:ln w="9525">
            <a:solidFill>
              <a:srgbClr val="BBA6F5"/>
            </a:solidFill>
            <a:prstDash val="solid"/>
          </a:ln>
        </p:spPr>
      </p:sp>
      <p:sp>
        <p:nvSpPr>
          <p:cNvPr id="99" name="Text 97"/>
          <p:cNvSpPr txBox="1"/>
          <p:nvPr/>
        </p:nvSpPr>
        <p:spPr>
          <a:xfrm>
            <a:off x="8001000" y="3995928"/>
            <a:ext cx="731520" cy="365760"/>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LCS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rgbClr val="2B2A4C"/>
                </a:solidFill>
              </a:rPr>
              <a:t>Two Sequences. One Common Thread</a:t>
            </a:r>
            <a:endParaRPr lang="en-US" sz="3400" dirty="0"/>
          </a:p>
        </p:txBody>
      </p:sp>
      <p:sp>
        <p:nvSpPr>
          <p:cNvPr id="3" name="Text 1"/>
          <p:cNvSpPr txBox="1"/>
          <p:nvPr/>
        </p:nvSpPr>
        <p:spPr>
          <a:xfrm>
            <a:off x="457200" y="1143000"/>
            <a:ext cx="274320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THE PROBLEM</a:t>
            </a:r>
            <a:endParaRPr lang="en-US" sz="1100" dirty="0"/>
          </a:p>
        </p:txBody>
      </p:sp>
      <p:sp>
        <p:nvSpPr>
          <p:cNvPr id="4" name="Text 2"/>
          <p:cNvSpPr txBox="1"/>
          <p:nvPr/>
        </p:nvSpPr>
        <p:spPr>
          <a:xfrm>
            <a:off x="457200" y="1417320"/>
            <a:ext cx="3749040" cy="640080"/>
          </a:xfrm>
          <a:prstGeom prst="rect">
            <a:avLst/>
          </a:prstGeom>
          <a:noFill/>
          <a:ln/>
        </p:spPr>
        <p:txBody>
          <a:bodyPr wrap="square" lIns="0" tIns="0" rIns="0" bIns="0" rtlCol="0" anchor="t"/>
          <a:lstStyle/>
          <a:p>
            <a:pPr marL="0" indent="0">
              <a:buNone/>
            </a:pPr>
            <a:r>
              <a:rPr lang="en-US" sz="1400" dirty="0">
                <a:solidFill>
                  <a:srgbClr val="2B2A4C"/>
                </a:solidFill>
                <a:latin typeface="Calibri" pitchFamily="34" charset="0"/>
                <a:ea typeface="Calibri" pitchFamily="34" charset="-122"/>
                <a:cs typeface="Calibri" pitchFamily="34" charset="-120"/>
              </a:rPr>
              <a:t>DNA sequences can differ while still containing common ordered patterns.</a:t>
            </a:r>
            <a:endParaRPr lang="en-US" sz="1400" dirty="0"/>
          </a:p>
        </p:txBody>
      </p:sp>
      <p:sp>
        <p:nvSpPr>
          <p:cNvPr id="5" name="Shape 3"/>
          <p:cNvSpPr/>
          <p:nvPr/>
        </p:nvSpPr>
        <p:spPr>
          <a:xfrm>
            <a:off x="457200" y="2103120"/>
            <a:ext cx="3749040" cy="1005840"/>
          </a:xfrm>
          <a:prstGeom prst="roundRect">
            <a:avLst>
              <a:gd name="adj" fmla="val 7273"/>
            </a:avLst>
          </a:prstGeom>
          <a:solidFill>
            <a:srgbClr val="EAE4FB"/>
          </a:solidFill>
          <a:ln w="9525">
            <a:solidFill>
              <a:srgbClr val="D9D0F2"/>
            </a:solidFill>
            <a:prstDash val="solid"/>
          </a:ln>
        </p:spPr>
      </p:sp>
      <p:sp>
        <p:nvSpPr>
          <p:cNvPr id="6" name="Text 4"/>
          <p:cNvSpPr txBox="1"/>
          <p:nvPr/>
        </p:nvSpPr>
        <p:spPr>
          <a:xfrm>
            <a:off x="640080" y="2194560"/>
            <a:ext cx="3383280" cy="822960"/>
          </a:xfrm>
          <a:prstGeom prst="rect">
            <a:avLst/>
          </a:prstGeom>
          <a:noFill/>
          <a:ln/>
        </p:spPr>
        <p:txBody>
          <a:bodyPr wrap="square" lIns="0" tIns="0" rIns="0" bIns="0" rtlCol="0" anchor="ctr"/>
          <a:lstStyle/>
          <a:p>
            <a:pPr marL="0" indent="0">
              <a:buNone/>
            </a:pPr>
            <a:r>
              <a:rPr lang="en-US" sz="1400" i="1" dirty="0">
                <a:solidFill>
                  <a:srgbClr val="6B46C1"/>
                </a:solidFill>
                <a:latin typeface="Calibri" pitchFamily="34" charset="0"/>
                <a:ea typeface="Calibri" pitchFamily="34" charset="-122"/>
                <a:cs typeface="Calibri" pitchFamily="34" charset="-120"/>
              </a:rPr>
              <a:t>Compare two DNA sequences, identify their Longest Common Subsequence, and explain how the solution is derived.</a:t>
            </a:r>
            <a:endParaRPr lang="en-US" sz="1400" dirty="0"/>
          </a:p>
        </p:txBody>
      </p:sp>
      <p:sp>
        <p:nvSpPr>
          <p:cNvPr id="7" name="Text 5"/>
          <p:cNvSpPr txBox="1"/>
          <p:nvPr/>
        </p:nvSpPr>
        <p:spPr>
          <a:xfrm>
            <a:off x="457200" y="3246120"/>
            <a:ext cx="274320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WHY IT MATTERS</a:t>
            </a:r>
            <a:endParaRPr lang="en-US" sz="1100" dirty="0"/>
          </a:p>
        </p:txBody>
      </p:sp>
      <p:sp>
        <p:nvSpPr>
          <p:cNvPr id="8" name="Text 6"/>
          <p:cNvSpPr txBox="1"/>
          <p:nvPr/>
        </p:nvSpPr>
        <p:spPr>
          <a:xfrm>
            <a:off x="457200" y="3493008"/>
            <a:ext cx="3749040" cy="731520"/>
          </a:xfrm>
          <a:prstGeom prst="rect">
            <a:avLst/>
          </a:prstGeom>
          <a:noFill/>
          <a:ln/>
        </p:spPr>
        <p:txBody>
          <a:bodyPr wrap="square" lIns="0" tIns="0" rIns="0" bIns="0" rtlCol="0" anchor="t"/>
          <a:lstStyle/>
          <a:p>
            <a:pPr marL="0" indent="0">
              <a:buNone/>
            </a:pPr>
            <a:r>
              <a:rPr lang="en-US" sz="1400" dirty="0">
                <a:solidFill>
                  <a:srgbClr val="2B2A4C"/>
                </a:solidFill>
                <a:latin typeface="Calibri" pitchFamily="34" charset="0"/>
                <a:ea typeface="Calibri" pitchFamily="34" charset="-122"/>
                <a:cs typeface="Calibri" pitchFamily="34" charset="-120"/>
              </a:rPr>
              <a:t>Sequence comparison is fundamental in bioinformatics — but returning </a:t>
            </a:r>
            <a:r>
              <a:rPr lang="en-US" sz="1400" dirty="0">
                <a:solidFill>
                  <a:srgbClr val="0F766E"/>
                </a:solidFill>
                <a:latin typeface="Courier New" pitchFamily="34" charset="0"/>
                <a:ea typeface="Courier New" pitchFamily="34" charset="-122"/>
                <a:cs typeface="Courier New" pitchFamily="34" charset="-120"/>
              </a:rPr>
              <a:t>LCS = ACTG</a:t>
            </a:r>
            <a:r>
              <a:rPr lang="en-US" sz="1400" dirty="0">
                <a:solidFill>
                  <a:srgbClr val="2B2A4C"/>
                </a:solidFill>
                <a:latin typeface="Calibri" pitchFamily="34" charset="0"/>
                <a:ea typeface="Calibri" pitchFamily="34" charset="-122"/>
                <a:cs typeface="Calibri" pitchFamily="34" charset="-120"/>
              </a:rPr>
              <a:t> doesn't explain why that result was obtained.</a:t>
            </a:r>
            <a:endParaRPr lang="en-US" sz="1400" dirty="0"/>
          </a:p>
        </p:txBody>
      </p:sp>
      <p:sp>
        <p:nvSpPr>
          <p:cNvPr id="9" name="Shape 7"/>
          <p:cNvSpPr/>
          <p:nvPr/>
        </p:nvSpPr>
        <p:spPr>
          <a:xfrm>
            <a:off x="4480560" y="1143000"/>
            <a:ext cx="2103120" cy="1463040"/>
          </a:xfrm>
          <a:prstGeom prst="roundRect">
            <a:avLst>
              <a:gd name="adj" fmla="val 5000"/>
            </a:avLst>
          </a:prstGeom>
          <a:solidFill>
            <a:srgbClr val="FFFFFF"/>
          </a:solidFill>
          <a:ln w="9525">
            <a:solidFill>
              <a:srgbClr val="D9D0F2"/>
            </a:solidFill>
            <a:prstDash val="solid"/>
          </a:ln>
        </p:spPr>
      </p:sp>
      <p:sp>
        <p:nvSpPr>
          <p:cNvPr id="10" name="Text 8"/>
          <p:cNvSpPr txBox="1"/>
          <p:nvPr/>
        </p:nvSpPr>
        <p:spPr>
          <a:xfrm>
            <a:off x="4617720" y="1234440"/>
            <a:ext cx="914400" cy="274320"/>
          </a:xfrm>
          <a:prstGeom prst="rect">
            <a:avLst/>
          </a:prstGeom>
          <a:noFill/>
          <a:ln/>
        </p:spPr>
        <p:txBody>
          <a:bodyPr wrap="square" lIns="0" tIns="0" rIns="0" bIns="0" rtlCol="0" anchor="t"/>
          <a:lstStyle/>
          <a:p>
            <a:pPr marL="0" indent="0">
              <a:buNone/>
            </a:pPr>
            <a:r>
              <a:rPr lang="en-US" sz="2000" b="1" dirty="0">
                <a:solidFill>
                  <a:srgbClr val="0F766E"/>
                </a:solidFill>
                <a:latin typeface="Calibri" pitchFamily="34" charset="0"/>
                <a:ea typeface="Calibri" pitchFamily="34" charset="-122"/>
                <a:cs typeface="Calibri" pitchFamily="34" charset="-120"/>
              </a:rPr>
              <a:t>01</a:t>
            </a:r>
            <a:endParaRPr lang="en-US" sz="2000" dirty="0"/>
          </a:p>
        </p:txBody>
      </p:sp>
      <p:sp>
        <p:nvSpPr>
          <p:cNvPr id="11" name="Text 9"/>
          <p:cNvSpPr txBox="1"/>
          <p:nvPr/>
        </p:nvSpPr>
        <p:spPr>
          <a:xfrm>
            <a:off x="4617720" y="1527048"/>
            <a:ext cx="1828800" cy="365760"/>
          </a:xfrm>
          <a:prstGeom prst="rect">
            <a:avLst/>
          </a:prstGeom>
          <a:noFill/>
          <a:ln/>
        </p:spPr>
        <p:txBody>
          <a:bodyPr wrap="square" lIns="0" tIns="0" rIns="0" bIns="0" rtlCol="0" anchor="t"/>
          <a:lstStyle/>
          <a:p>
            <a:pPr marL="0" indent="0">
              <a:buNone/>
            </a:pPr>
            <a:r>
              <a:rPr lang="en-US" sz="1300" b="1" dirty="0">
                <a:solidFill>
                  <a:srgbClr val="2B2A4C"/>
                </a:solidFill>
                <a:latin typeface="Calibri" pitchFamily="34" charset="0"/>
                <a:ea typeface="Calibri" pitchFamily="34" charset="-122"/>
                <a:cs typeface="Calibri" pitchFamily="34" charset="-120"/>
              </a:rPr>
              <a:t>Sequence Complexity</a:t>
            </a:r>
            <a:endParaRPr lang="en-US" sz="1300" dirty="0"/>
          </a:p>
        </p:txBody>
      </p:sp>
      <p:sp>
        <p:nvSpPr>
          <p:cNvPr id="12" name="Text 10"/>
          <p:cNvSpPr txBox="1"/>
          <p:nvPr/>
        </p:nvSpPr>
        <p:spPr>
          <a:xfrm>
            <a:off x="4617720" y="1920240"/>
            <a:ext cx="1828800" cy="64008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Comparing every possible combination becomes expensive.</a:t>
            </a:r>
            <a:endParaRPr lang="en-US" sz="1200" dirty="0"/>
          </a:p>
        </p:txBody>
      </p:sp>
      <p:sp>
        <p:nvSpPr>
          <p:cNvPr id="13" name="Shape 11"/>
          <p:cNvSpPr/>
          <p:nvPr/>
        </p:nvSpPr>
        <p:spPr>
          <a:xfrm>
            <a:off x="6675120" y="1143000"/>
            <a:ext cx="2103120" cy="1463040"/>
          </a:xfrm>
          <a:prstGeom prst="roundRect">
            <a:avLst>
              <a:gd name="adj" fmla="val 5000"/>
            </a:avLst>
          </a:prstGeom>
          <a:solidFill>
            <a:srgbClr val="FFFFFF"/>
          </a:solidFill>
          <a:ln w="9525">
            <a:solidFill>
              <a:srgbClr val="D9D0F2"/>
            </a:solidFill>
            <a:prstDash val="solid"/>
          </a:ln>
        </p:spPr>
      </p:sp>
      <p:sp>
        <p:nvSpPr>
          <p:cNvPr id="14" name="Text 12"/>
          <p:cNvSpPr txBox="1"/>
          <p:nvPr/>
        </p:nvSpPr>
        <p:spPr>
          <a:xfrm>
            <a:off x="6812280" y="1234440"/>
            <a:ext cx="914400" cy="274320"/>
          </a:xfrm>
          <a:prstGeom prst="rect">
            <a:avLst/>
          </a:prstGeom>
          <a:noFill/>
          <a:ln/>
        </p:spPr>
        <p:txBody>
          <a:bodyPr wrap="square" lIns="0" tIns="0" rIns="0" bIns="0" rtlCol="0" anchor="t"/>
          <a:lstStyle/>
          <a:p>
            <a:pPr marL="0" indent="0">
              <a:buNone/>
            </a:pPr>
            <a:r>
              <a:rPr lang="en-US" sz="2000" b="1" dirty="0">
                <a:solidFill>
                  <a:srgbClr val="6B46C1"/>
                </a:solidFill>
                <a:latin typeface="Calibri" pitchFamily="34" charset="0"/>
                <a:ea typeface="Calibri" pitchFamily="34" charset="-122"/>
                <a:cs typeface="Calibri" pitchFamily="34" charset="-120"/>
              </a:rPr>
              <a:t>02</a:t>
            </a:r>
            <a:endParaRPr lang="en-US" sz="2000" dirty="0"/>
          </a:p>
        </p:txBody>
      </p:sp>
      <p:sp>
        <p:nvSpPr>
          <p:cNvPr id="15" name="Text 13"/>
          <p:cNvSpPr txBox="1"/>
          <p:nvPr/>
        </p:nvSpPr>
        <p:spPr>
          <a:xfrm>
            <a:off x="6812280" y="1527048"/>
            <a:ext cx="1828800" cy="365760"/>
          </a:xfrm>
          <a:prstGeom prst="rect">
            <a:avLst/>
          </a:prstGeom>
          <a:noFill/>
          <a:ln/>
        </p:spPr>
        <p:txBody>
          <a:bodyPr wrap="square" lIns="0" tIns="0" rIns="0" bIns="0" rtlCol="0" anchor="t"/>
          <a:lstStyle/>
          <a:p>
            <a:pPr marL="0" indent="0">
              <a:buNone/>
            </a:pPr>
            <a:r>
              <a:rPr lang="en-US" sz="1300" b="1" dirty="0">
                <a:solidFill>
                  <a:srgbClr val="2B2A4C"/>
                </a:solidFill>
                <a:latin typeface="Calibri" pitchFamily="34" charset="0"/>
                <a:ea typeface="Calibri" pitchFamily="34" charset="-122"/>
                <a:cs typeface="Calibri" pitchFamily="34" charset="-120"/>
              </a:rPr>
              <a:t>Repeated Computation</a:t>
            </a:r>
            <a:endParaRPr lang="en-US" sz="1300" dirty="0"/>
          </a:p>
        </p:txBody>
      </p:sp>
      <p:sp>
        <p:nvSpPr>
          <p:cNvPr id="16" name="Text 14"/>
          <p:cNvSpPr txBox="1"/>
          <p:nvPr/>
        </p:nvSpPr>
        <p:spPr>
          <a:xfrm>
            <a:off x="6812280" y="1920240"/>
            <a:ext cx="1828800" cy="64008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Naive recursion repeatedly solves the same subproblems.</a:t>
            </a:r>
            <a:endParaRPr lang="en-US" sz="1200" dirty="0"/>
          </a:p>
        </p:txBody>
      </p:sp>
      <p:sp>
        <p:nvSpPr>
          <p:cNvPr id="17" name="Shape 15"/>
          <p:cNvSpPr/>
          <p:nvPr/>
        </p:nvSpPr>
        <p:spPr>
          <a:xfrm>
            <a:off x="4480560" y="2697480"/>
            <a:ext cx="2103120" cy="1463040"/>
          </a:xfrm>
          <a:prstGeom prst="roundRect">
            <a:avLst>
              <a:gd name="adj" fmla="val 5000"/>
            </a:avLst>
          </a:prstGeom>
          <a:solidFill>
            <a:srgbClr val="FFFFFF"/>
          </a:solidFill>
          <a:ln w="9525">
            <a:solidFill>
              <a:srgbClr val="D9D0F2"/>
            </a:solidFill>
            <a:prstDash val="solid"/>
          </a:ln>
        </p:spPr>
      </p:sp>
      <p:sp>
        <p:nvSpPr>
          <p:cNvPr id="18" name="Text 16"/>
          <p:cNvSpPr txBox="1"/>
          <p:nvPr/>
        </p:nvSpPr>
        <p:spPr>
          <a:xfrm>
            <a:off x="4617720" y="2788920"/>
            <a:ext cx="914400" cy="274320"/>
          </a:xfrm>
          <a:prstGeom prst="rect">
            <a:avLst/>
          </a:prstGeom>
          <a:noFill/>
          <a:ln/>
        </p:spPr>
        <p:txBody>
          <a:bodyPr wrap="square" lIns="0" tIns="0" rIns="0" bIns="0" rtlCol="0" anchor="t"/>
          <a:lstStyle/>
          <a:p>
            <a:pPr marL="0" indent="0">
              <a:buNone/>
            </a:pPr>
            <a:r>
              <a:rPr lang="en-US" sz="2000" b="1" dirty="0">
                <a:solidFill>
                  <a:srgbClr val="0F766E"/>
                </a:solidFill>
                <a:latin typeface="Calibri" pitchFamily="34" charset="0"/>
                <a:ea typeface="Calibri" pitchFamily="34" charset="-122"/>
                <a:cs typeface="Calibri" pitchFamily="34" charset="-120"/>
              </a:rPr>
              <a:t>03</a:t>
            </a:r>
            <a:endParaRPr lang="en-US" sz="2000" dirty="0"/>
          </a:p>
        </p:txBody>
      </p:sp>
      <p:sp>
        <p:nvSpPr>
          <p:cNvPr id="19" name="Text 17"/>
          <p:cNvSpPr txBox="1"/>
          <p:nvPr/>
        </p:nvSpPr>
        <p:spPr>
          <a:xfrm>
            <a:off x="4617720" y="3081528"/>
            <a:ext cx="1828800" cy="365760"/>
          </a:xfrm>
          <a:prstGeom prst="rect">
            <a:avLst/>
          </a:prstGeom>
          <a:noFill/>
          <a:ln/>
        </p:spPr>
        <p:txBody>
          <a:bodyPr wrap="square" lIns="0" tIns="0" rIns="0" bIns="0" rtlCol="0" anchor="t"/>
          <a:lstStyle/>
          <a:p>
            <a:pPr marL="0" indent="0">
              <a:buNone/>
            </a:pPr>
            <a:r>
              <a:rPr lang="en-US" sz="1300" b="1" dirty="0">
                <a:solidFill>
                  <a:srgbClr val="2B2A4C"/>
                </a:solidFill>
                <a:latin typeface="Calibri" pitchFamily="34" charset="0"/>
                <a:ea typeface="Calibri" pitchFamily="34" charset="-122"/>
                <a:cs typeface="Calibri" pitchFamily="34" charset="-120"/>
              </a:rPr>
              <a:t>Lack of Explainability</a:t>
            </a:r>
            <a:endParaRPr lang="en-US" sz="1300" dirty="0"/>
          </a:p>
        </p:txBody>
      </p:sp>
      <p:sp>
        <p:nvSpPr>
          <p:cNvPr id="20" name="Text 18"/>
          <p:cNvSpPr txBox="1"/>
          <p:nvPr/>
        </p:nvSpPr>
        <p:spPr>
          <a:xfrm>
            <a:off x="4617720" y="3474720"/>
            <a:ext cx="1828800" cy="64008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Traditional outputs often hide the algorithmic reasoning.</a:t>
            </a:r>
            <a:endParaRPr lang="en-US" sz="1200" dirty="0"/>
          </a:p>
        </p:txBody>
      </p:sp>
      <p:sp>
        <p:nvSpPr>
          <p:cNvPr id="21" name="Shape 19"/>
          <p:cNvSpPr/>
          <p:nvPr/>
        </p:nvSpPr>
        <p:spPr>
          <a:xfrm>
            <a:off x="6675120" y="2697480"/>
            <a:ext cx="2103120" cy="1463040"/>
          </a:xfrm>
          <a:prstGeom prst="roundRect">
            <a:avLst>
              <a:gd name="adj" fmla="val 5000"/>
            </a:avLst>
          </a:prstGeom>
          <a:solidFill>
            <a:srgbClr val="FFFFFF"/>
          </a:solidFill>
          <a:ln w="9525">
            <a:solidFill>
              <a:srgbClr val="D9D0F2"/>
            </a:solidFill>
            <a:prstDash val="solid"/>
          </a:ln>
        </p:spPr>
      </p:sp>
      <p:sp>
        <p:nvSpPr>
          <p:cNvPr id="22" name="Text 20"/>
          <p:cNvSpPr txBox="1"/>
          <p:nvPr/>
        </p:nvSpPr>
        <p:spPr>
          <a:xfrm>
            <a:off x="6812280" y="2788920"/>
            <a:ext cx="914400" cy="274320"/>
          </a:xfrm>
          <a:prstGeom prst="rect">
            <a:avLst/>
          </a:prstGeom>
          <a:noFill/>
          <a:ln/>
        </p:spPr>
        <p:txBody>
          <a:bodyPr wrap="square" lIns="0" tIns="0" rIns="0" bIns="0" rtlCol="0" anchor="t"/>
          <a:lstStyle/>
          <a:p>
            <a:pPr marL="0" indent="0">
              <a:buNone/>
            </a:pPr>
            <a:r>
              <a:rPr lang="en-US" sz="2000" b="1" dirty="0">
                <a:solidFill>
                  <a:srgbClr val="6B46C1"/>
                </a:solidFill>
                <a:latin typeface="Calibri" pitchFamily="34" charset="0"/>
                <a:ea typeface="Calibri" pitchFamily="34" charset="-122"/>
                <a:cs typeface="Calibri" pitchFamily="34" charset="-120"/>
              </a:rPr>
              <a:t>04</a:t>
            </a:r>
            <a:endParaRPr lang="en-US" sz="2000" dirty="0"/>
          </a:p>
        </p:txBody>
      </p:sp>
      <p:sp>
        <p:nvSpPr>
          <p:cNvPr id="23" name="Text 21"/>
          <p:cNvSpPr txBox="1"/>
          <p:nvPr/>
        </p:nvSpPr>
        <p:spPr>
          <a:xfrm>
            <a:off x="6812280" y="3081528"/>
            <a:ext cx="1828800" cy="365760"/>
          </a:xfrm>
          <a:prstGeom prst="rect">
            <a:avLst/>
          </a:prstGeom>
          <a:noFill/>
          <a:ln/>
        </p:spPr>
        <p:txBody>
          <a:bodyPr wrap="square" lIns="0" tIns="0" rIns="0" bIns="0" rtlCol="0" anchor="t"/>
          <a:lstStyle/>
          <a:p>
            <a:pPr marL="0" indent="0">
              <a:buNone/>
            </a:pPr>
            <a:r>
              <a:rPr lang="en-US" sz="1300" b="1" dirty="0">
                <a:solidFill>
                  <a:srgbClr val="2B2A4C"/>
                </a:solidFill>
                <a:latin typeface="Calibri" pitchFamily="34" charset="0"/>
                <a:ea typeface="Calibri" pitchFamily="34" charset="-122"/>
                <a:cs typeface="Calibri" pitchFamily="34" charset="-120"/>
              </a:rPr>
              <a:t>Biological Interpretation</a:t>
            </a:r>
            <a:endParaRPr lang="en-US" sz="1300" dirty="0"/>
          </a:p>
        </p:txBody>
      </p:sp>
      <p:sp>
        <p:nvSpPr>
          <p:cNvPr id="24" name="Text 22"/>
          <p:cNvSpPr txBox="1"/>
          <p:nvPr/>
        </p:nvSpPr>
        <p:spPr>
          <a:xfrm>
            <a:off x="6812280" y="3474720"/>
            <a:ext cx="1828800" cy="64008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Ordered commonality, not a full biological alignment.</a:t>
            </a:r>
            <a:endParaRPr lang="en-US" sz="1200" dirty="0"/>
          </a:p>
        </p:txBody>
      </p:sp>
      <p:sp>
        <p:nvSpPr>
          <p:cNvPr id="25" name="Shape 23"/>
          <p:cNvSpPr/>
          <p:nvPr/>
        </p:nvSpPr>
        <p:spPr>
          <a:xfrm>
            <a:off x="457200" y="4315968"/>
            <a:ext cx="8229600" cy="393192"/>
          </a:xfrm>
          <a:prstGeom prst="roundRect">
            <a:avLst>
              <a:gd name="adj" fmla="val 13953"/>
            </a:avLst>
          </a:prstGeom>
          <a:solidFill>
            <a:srgbClr val="86DCCB"/>
          </a:solidFill>
          <a:ln w="9525">
            <a:solidFill>
              <a:srgbClr val="86DCCB"/>
            </a:solidFill>
            <a:prstDash val="solid"/>
          </a:ln>
        </p:spPr>
      </p:sp>
      <p:sp>
        <p:nvSpPr>
          <p:cNvPr id="26" name="Text 24"/>
          <p:cNvSpPr txBox="1"/>
          <p:nvPr/>
        </p:nvSpPr>
        <p:spPr>
          <a:xfrm>
            <a:off x="457200" y="4315968"/>
            <a:ext cx="8229600" cy="39319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The challenge isn't only finding the answer — it's making the path to the answer understandable.</a:t>
            </a:r>
            <a:endParaRPr lang="en-US" sz="1400" dirty="0"/>
          </a:p>
        </p:txBody>
      </p:sp>
      <p:sp>
        <p:nvSpPr>
          <p:cNvPr id="27"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rgbClr val="2B2A4C"/>
                </a:solidFill>
              </a:rPr>
              <a:t>From Black Box to Explainable</a:t>
            </a:r>
            <a:endParaRPr lang="en-US" sz="3400" dirty="0"/>
          </a:p>
        </p:txBody>
      </p:sp>
      <p:sp>
        <p:nvSpPr>
          <p:cNvPr id="3" name="Text 1"/>
          <p:cNvSpPr txBox="1"/>
          <p:nvPr/>
        </p:nvSpPr>
        <p:spPr>
          <a:xfrm>
            <a:off x="457200" y="1115568"/>
            <a:ext cx="8229600" cy="274320"/>
          </a:xfrm>
          <a:prstGeom prst="rect">
            <a:avLst/>
          </a:prstGeom>
          <a:noFill/>
          <a:ln/>
        </p:spPr>
        <p:txBody>
          <a:bodyPr wrap="square" lIns="0" tIns="0" rIns="0" bIns="0" rtlCol="0" anchor="t"/>
          <a:lstStyle/>
          <a:p>
            <a:pPr marL="0" indent="0">
              <a:buNone/>
            </a:pPr>
            <a:r>
              <a:rPr lang="en-US" sz="1300" dirty="0">
                <a:solidFill>
                  <a:srgbClr val="6B6890"/>
                </a:solidFill>
                <a:latin typeface="Calibri" pitchFamily="34" charset="0"/>
                <a:ea typeface="Calibri" pitchFamily="34" charset="-122"/>
                <a:cs typeface="Calibri" pitchFamily="34" charset="-120"/>
              </a:rPr>
              <a:t>Instead of  </a:t>
            </a:r>
            <a:r>
              <a:rPr lang="en-US" sz="1300" strike="sngStrike" dirty="0">
                <a:solidFill>
                  <a:srgbClr val="6B6890"/>
                </a:solidFill>
                <a:latin typeface="Courier New" pitchFamily="34" charset="0"/>
                <a:ea typeface="Courier New" pitchFamily="34" charset="-122"/>
                <a:cs typeface="Courier New" pitchFamily="34" charset="-120"/>
              </a:rPr>
              <a:t>DNA → Algorithm → Answer</a:t>
            </a:r>
            <a:r>
              <a:rPr lang="en-US" sz="1300" dirty="0">
                <a:solidFill>
                  <a:srgbClr val="6B6890"/>
                </a:solidFill>
                <a:latin typeface="Calibri" pitchFamily="34" charset="0"/>
                <a:ea typeface="Calibri" pitchFamily="34" charset="-122"/>
                <a:cs typeface="Calibri" pitchFamily="34" charset="-120"/>
              </a:rPr>
              <a:t>   we expose every step:</a:t>
            </a:r>
            <a:endParaRPr lang="en-US" sz="1300" dirty="0"/>
          </a:p>
        </p:txBody>
      </p:sp>
      <p:sp>
        <p:nvSpPr>
          <p:cNvPr id="4" name="Shape 2"/>
          <p:cNvSpPr/>
          <p:nvPr/>
        </p:nvSpPr>
        <p:spPr>
          <a:xfrm>
            <a:off x="457200" y="1508760"/>
            <a:ext cx="1207008" cy="457200"/>
          </a:xfrm>
          <a:prstGeom prst="roundRect">
            <a:avLst>
              <a:gd name="adj" fmla="val 12000"/>
            </a:avLst>
          </a:prstGeom>
          <a:solidFill>
            <a:srgbClr val="EAE4FB"/>
          </a:solidFill>
          <a:ln w="9525">
            <a:solidFill>
              <a:srgbClr val="D9D0F2"/>
            </a:solidFill>
            <a:prstDash val="solid"/>
          </a:ln>
        </p:spPr>
      </p:sp>
      <p:sp>
        <p:nvSpPr>
          <p:cNvPr id="5" name="Text 3"/>
          <p:cNvSpPr txBox="1"/>
          <p:nvPr/>
        </p:nvSpPr>
        <p:spPr>
          <a:xfrm>
            <a:off x="457200" y="1508760"/>
            <a:ext cx="1207008" cy="457200"/>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DNA</a:t>
            </a:r>
            <a:endParaRPr lang="en-US" sz="1300" dirty="0"/>
          </a:p>
        </p:txBody>
      </p:sp>
      <p:sp>
        <p:nvSpPr>
          <p:cNvPr id="6" name="Shape 4"/>
          <p:cNvSpPr/>
          <p:nvPr/>
        </p:nvSpPr>
        <p:spPr>
          <a:xfrm>
            <a:off x="1664208" y="1737360"/>
            <a:ext cx="182880" cy="0"/>
          </a:xfrm>
          <a:prstGeom prst="line">
            <a:avLst/>
          </a:prstGeom>
          <a:noFill/>
          <a:ln w="15875">
            <a:solidFill>
              <a:srgbClr val="6B6890"/>
            </a:solidFill>
            <a:prstDash val="solid"/>
            <a:tailEnd type="triangle"/>
          </a:ln>
        </p:spPr>
      </p:sp>
      <p:sp>
        <p:nvSpPr>
          <p:cNvPr id="7" name="Shape 5"/>
          <p:cNvSpPr/>
          <p:nvPr/>
        </p:nvSpPr>
        <p:spPr>
          <a:xfrm>
            <a:off x="1847088" y="1508760"/>
            <a:ext cx="1207008" cy="457200"/>
          </a:xfrm>
          <a:prstGeom prst="roundRect">
            <a:avLst>
              <a:gd name="adj" fmla="val 12000"/>
            </a:avLst>
          </a:prstGeom>
          <a:solidFill>
            <a:srgbClr val="EAE4FB"/>
          </a:solidFill>
          <a:ln w="9525">
            <a:solidFill>
              <a:srgbClr val="D9D0F2"/>
            </a:solidFill>
            <a:prstDash val="solid"/>
          </a:ln>
        </p:spPr>
      </p:sp>
      <p:sp>
        <p:nvSpPr>
          <p:cNvPr id="8" name="Text 6"/>
          <p:cNvSpPr txBox="1"/>
          <p:nvPr/>
        </p:nvSpPr>
        <p:spPr>
          <a:xfrm>
            <a:off x="1847088" y="1508760"/>
            <a:ext cx="1207008" cy="457200"/>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DP States</a:t>
            </a:r>
            <a:endParaRPr lang="en-US" sz="1300" dirty="0"/>
          </a:p>
        </p:txBody>
      </p:sp>
      <p:sp>
        <p:nvSpPr>
          <p:cNvPr id="9" name="Shape 7"/>
          <p:cNvSpPr/>
          <p:nvPr/>
        </p:nvSpPr>
        <p:spPr>
          <a:xfrm>
            <a:off x="3054096" y="1737360"/>
            <a:ext cx="182880" cy="0"/>
          </a:xfrm>
          <a:prstGeom prst="line">
            <a:avLst/>
          </a:prstGeom>
          <a:noFill/>
          <a:ln w="15875">
            <a:solidFill>
              <a:srgbClr val="6B6890"/>
            </a:solidFill>
            <a:prstDash val="solid"/>
            <a:tailEnd type="triangle"/>
          </a:ln>
        </p:spPr>
      </p:sp>
      <p:sp>
        <p:nvSpPr>
          <p:cNvPr id="10" name="Shape 8"/>
          <p:cNvSpPr/>
          <p:nvPr/>
        </p:nvSpPr>
        <p:spPr>
          <a:xfrm>
            <a:off x="3236976" y="1508760"/>
            <a:ext cx="1207008" cy="457200"/>
          </a:xfrm>
          <a:prstGeom prst="roundRect">
            <a:avLst>
              <a:gd name="adj" fmla="val 12000"/>
            </a:avLst>
          </a:prstGeom>
          <a:solidFill>
            <a:srgbClr val="EAE4FB"/>
          </a:solidFill>
          <a:ln w="9525">
            <a:solidFill>
              <a:srgbClr val="D9D0F2"/>
            </a:solidFill>
            <a:prstDash val="solid"/>
          </a:ln>
        </p:spPr>
      </p:sp>
      <p:sp>
        <p:nvSpPr>
          <p:cNvPr id="11" name="Text 9"/>
          <p:cNvSpPr txBox="1"/>
          <p:nvPr/>
        </p:nvSpPr>
        <p:spPr>
          <a:xfrm>
            <a:off x="3236976" y="1508760"/>
            <a:ext cx="1207008" cy="457200"/>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Decisions</a:t>
            </a:r>
            <a:endParaRPr lang="en-US" sz="1300" dirty="0"/>
          </a:p>
        </p:txBody>
      </p:sp>
      <p:sp>
        <p:nvSpPr>
          <p:cNvPr id="12" name="Shape 10"/>
          <p:cNvSpPr/>
          <p:nvPr/>
        </p:nvSpPr>
        <p:spPr>
          <a:xfrm>
            <a:off x="4443984" y="1737360"/>
            <a:ext cx="182880" cy="0"/>
          </a:xfrm>
          <a:prstGeom prst="line">
            <a:avLst/>
          </a:prstGeom>
          <a:noFill/>
          <a:ln w="15875">
            <a:solidFill>
              <a:srgbClr val="6B6890"/>
            </a:solidFill>
            <a:prstDash val="solid"/>
            <a:tailEnd type="triangle"/>
          </a:ln>
        </p:spPr>
      </p:sp>
      <p:sp>
        <p:nvSpPr>
          <p:cNvPr id="13" name="Shape 11"/>
          <p:cNvSpPr/>
          <p:nvPr/>
        </p:nvSpPr>
        <p:spPr>
          <a:xfrm>
            <a:off x="4626864" y="1508760"/>
            <a:ext cx="1207008" cy="457200"/>
          </a:xfrm>
          <a:prstGeom prst="roundRect">
            <a:avLst>
              <a:gd name="adj" fmla="val 12000"/>
            </a:avLst>
          </a:prstGeom>
          <a:solidFill>
            <a:srgbClr val="EAE4FB"/>
          </a:solidFill>
          <a:ln w="9525">
            <a:solidFill>
              <a:srgbClr val="D9D0F2"/>
            </a:solidFill>
            <a:prstDash val="solid"/>
          </a:ln>
        </p:spPr>
      </p:sp>
      <p:sp>
        <p:nvSpPr>
          <p:cNvPr id="14" name="Text 12"/>
          <p:cNvSpPr txBox="1"/>
          <p:nvPr/>
        </p:nvSpPr>
        <p:spPr>
          <a:xfrm>
            <a:off x="4626864" y="1508760"/>
            <a:ext cx="1207008" cy="457200"/>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Traceback</a:t>
            </a:r>
            <a:endParaRPr lang="en-US" sz="1300" dirty="0"/>
          </a:p>
        </p:txBody>
      </p:sp>
      <p:sp>
        <p:nvSpPr>
          <p:cNvPr id="15" name="Shape 13"/>
          <p:cNvSpPr/>
          <p:nvPr/>
        </p:nvSpPr>
        <p:spPr>
          <a:xfrm>
            <a:off x="5833872" y="1737360"/>
            <a:ext cx="182880" cy="0"/>
          </a:xfrm>
          <a:prstGeom prst="line">
            <a:avLst/>
          </a:prstGeom>
          <a:noFill/>
          <a:ln w="15875">
            <a:solidFill>
              <a:srgbClr val="6B6890"/>
            </a:solidFill>
            <a:prstDash val="solid"/>
            <a:tailEnd type="triangle"/>
          </a:ln>
        </p:spPr>
      </p:sp>
      <p:sp>
        <p:nvSpPr>
          <p:cNvPr id="16" name="Shape 14"/>
          <p:cNvSpPr/>
          <p:nvPr/>
        </p:nvSpPr>
        <p:spPr>
          <a:xfrm>
            <a:off x="6016752" y="1508760"/>
            <a:ext cx="1207008" cy="457200"/>
          </a:xfrm>
          <a:prstGeom prst="roundRect">
            <a:avLst>
              <a:gd name="adj" fmla="val 12000"/>
            </a:avLst>
          </a:prstGeom>
          <a:solidFill>
            <a:srgbClr val="86DCCB"/>
          </a:solidFill>
          <a:ln w="9525">
            <a:solidFill>
              <a:srgbClr val="86DCCB"/>
            </a:solidFill>
            <a:prstDash val="solid"/>
          </a:ln>
        </p:spPr>
      </p:sp>
      <p:sp>
        <p:nvSpPr>
          <p:cNvPr id="17" name="Text 15"/>
          <p:cNvSpPr txBox="1"/>
          <p:nvPr/>
        </p:nvSpPr>
        <p:spPr>
          <a:xfrm>
            <a:off x="6016752" y="1508760"/>
            <a:ext cx="1207008" cy="457200"/>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LCS</a:t>
            </a:r>
            <a:endParaRPr lang="en-US" sz="1300" dirty="0"/>
          </a:p>
        </p:txBody>
      </p:sp>
      <p:sp>
        <p:nvSpPr>
          <p:cNvPr id="18" name="Shape 16"/>
          <p:cNvSpPr/>
          <p:nvPr/>
        </p:nvSpPr>
        <p:spPr>
          <a:xfrm>
            <a:off x="7223760" y="1737360"/>
            <a:ext cx="182880" cy="0"/>
          </a:xfrm>
          <a:prstGeom prst="line">
            <a:avLst/>
          </a:prstGeom>
          <a:noFill/>
          <a:ln w="15875">
            <a:solidFill>
              <a:srgbClr val="6B6890"/>
            </a:solidFill>
            <a:prstDash val="solid"/>
            <a:tailEnd type="triangle"/>
          </a:ln>
        </p:spPr>
      </p:sp>
      <p:sp>
        <p:nvSpPr>
          <p:cNvPr id="19" name="Shape 17"/>
          <p:cNvSpPr/>
          <p:nvPr/>
        </p:nvSpPr>
        <p:spPr>
          <a:xfrm>
            <a:off x="7406640" y="1508760"/>
            <a:ext cx="1207008" cy="457200"/>
          </a:xfrm>
          <a:prstGeom prst="roundRect">
            <a:avLst>
              <a:gd name="adj" fmla="val 12000"/>
            </a:avLst>
          </a:prstGeom>
          <a:solidFill>
            <a:srgbClr val="EAE4FB"/>
          </a:solidFill>
          <a:ln w="9525">
            <a:solidFill>
              <a:srgbClr val="D9D0F2"/>
            </a:solidFill>
            <a:prstDash val="solid"/>
          </a:ln>
        </p:spPr>
      </p:sp>
      <p:sp>
        <p:nvSpPr>
          <p:cNvPr id="20" name="Text 18"/>
          <p:cNvSpPr txBox="1"/>
          <p:nvPr/>
        </p:nvSpPr>
        <p:spPr>
          <a:xfrm>
            <a:off x="7406640" y="1508760"/>
            <a:ext cx="1207008" cy="457200"/>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Similarity</a:t>
            </a:r>
            <a:endParaRPr lang="en-US" sz="1300" dirty="0"/>
          </a:p>
        </p:txBody>
      </p:sp>
      <p:sp>
        <p:nvSpPr>
          <p:cNvPr id="21" name="Shape 19"/>
          <p:cNvSpPr/>
          <p:nvPr/>
        </p:nvSpPr>
        <p:spPr>
          <a:xfrm>
            <a:off x="457200" y="2240280"/>
            <a:ext cx="2651760" cy="960120"/>
          </a:xfrm>
          <a:prstGeom prst="roundRect">
            <a:avLst>
              <a:gd name="adj" fmla="val 7619"/>
            </a:avLst>
          </a:prstGeom>
          <a:solidFill>
            <a:srgbClr val="FFFFFF"/>
          </a:solidFill>
          <a:ln w="9525">
            <a:solidFill>
              <a:srgbClr val="D9D0F2"/>
            </a:solidFill>
            <a:prstDash val="solid"/>
          </a:ln>
        </p:spPr>
      </p:sp>
      <p:sp>
        <p:nvSpPr>
          <p:cNvPr id="22" name="Shape 20"/>
          <p:cNvSpPr/>
          <p:nvPr/>
        </p:nvSpPr>
        <p:spPr>
          <a:xfrm>
            <a:off x="594360" y="2395728"/>
            <a:ext cx="384048" cy="384048"/>
          </a:xfrm>
          <a:prstGeom prst="ellipse">
            <a:avLst/>
          </a:prstGeom>
          <a:solidFill>
            <a:srgbClr val="86DCCB"/>
          </a:solidFill>
          <a:ln w="12700">
            <a:solidFill>
              <a:srgbClr val="86DCCB"/>
            </a:solidFill>
            <a:prstDash val="solid"/>
          </a:ln>
        </p:spPr>
      </p:sp>
      <p:sp>
        <p:nvSpPr>
          <p:cNvPr id="23" name="Text 21"/>
          <p:cNvSpPr txBox="1"/>
          <p:nvPr/>
        </p:nvSpPr>
        <p:spPr>
          <a:xfrm>
            <a:off x="594360" y="2395728"/>
            <a:ext cx="384048" cy="384048"/>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1</a:t>
            </a:r>
            <a:endParaRPr lang="en-US" sz="1400" dirty="0"/>
          </a:p>
        </p:txBody>
      </p:sp>
      <p:sp>
        <p:nvSpPr>
          <p:cNvPr id="24" name="Text 22"/>
          <p:cNvSpPr txBox="1"/>
          <p:nvPr/>
        </p:nvSpPr>
        <p:spPr>
          <a:xfrm>
            <a:off x="1097280" y="2331720"/>
            <a:ext cx="1920240" cy="274320"/>
          </a:xfrm>
          <a:prstGeom prst="rect">
            <a:avLst/>
          </a:prstGeom>
          <a:noFill/>
          <a:ln/>
        </p:spPr>
        <p:txBody>
          <a:bodyPr wrap="square" lIns="0" tIns="0" rIns="0" bIns="0" rtlCol="0" anchor="t"/>
          <a:lstStyle/>
          <a:p>
            <a:pPr marL="0" indent="0">
              <a:buNone/>
            </a:pPr>
            <a:r>
              <a:rPr lang="en-US" sz="1400" b="1" dirty="0">
                <a:solidFill>
                  <a:srgbClr val="2B2A4C"/>
                </a:solidFill>
                <a:latin typeface="Calibri" pitchFamily="34" charset="0"/>
                <a:ea typeface="Calibri" pitchFamily="34" charset="-122"/>
                <a:cs typeface="Calibri" pitchFamily="34" charset="-120"/>
              </a:rPr>
              <a:t>DNA Comparison</a:t>
            </a:r>
            <a:endParaRPr lang="en-US" sz="1400" dirty="0"/>
          </a:p>
        </p:txBody>
      </p:sp>
      <p:sp>
        <p:nvSpPr>
          <p:cNvPr id="25" name="Text 23"/>
          <p:cNvSpPr txBox="1"/>
          <p:nvPr/>
        </p:nvSpPr>
        <p:spPr>
          <a:xfrm>
            <a:off x="1097280" y="2624328"/>
            <a:ext cx="1920240" cy="50292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Compare two nucleotide sequences.</a:t>
            </a:r>
            <a:endParaRPr lang="en-US" sz="1200" dirty="0"/>
          </a:p>
        </p:txBody>
      </p:sp>
      <p:sp>
        <p:nvSpPr>
          <p:cNvPr id="26" name="Shape 24"/>
          <p:cNvSpPr/>
          <p:nvPr/>
        </p:nvSpPr>
        <p:spPr>
          <a:xfrm>
            <a:off x="3246120" y="2240280"/>
            <a:ext cx="2651760" cy="960120"/>
          </a:xfrm>
          <a:prstGeom prst="roundRect">
            <a:avLst>
              <a:gd name="adj" fmla="val 7619"/>
            </a:avLst>
          </a:prstGeom>
          <a:solidFill>
            <a:srgbClr val="FFFFFF"/>
          </a:solidFill>
          <a:ln w="9525">
            <a:solidFill>
              <a:srgbClr val="D9D0F2"/>
            </a:solidFill>
            <a:prstDash val="solid"/>
          </a:ln>
        </p:spPr>
      </p:sp>
      <p:sp>
        <p:nvSpPr>
          <p:cNvPr id="27" name="Shape 25"/>
          <p:cNvSpPr/>
          <p:nvPr/>
        </p:nvSpPr>
        <p:spPr>
          <a:xfrm>
            <a:off x="3383280" y="2395728"/>
            <a:ext cx="384048" cy="384048"/>
          </a:xfrm>
          <a:prstGeom prst="ellipse">
            <a:avLst/>
          </a:prstGeom>
          <a:solidFill>
            <a:srgbClr val="BBA6F5"/>
          </a:solidFill>
          <a:ln w="12700">
            <a:solidFill>
              <a:srgbClr val="BBA6F5"/>
            </a:solidFill>
            <a:prstDash val="solid"/>
          </a:ln>
        </p:spPr>
      </p:sp>
      <p:sp>
        <p:nvSpPr>
          <p:cNvPr id="28" name="Text 26"/>
          <p:cNvSpPr txBox="1"/>
          <p:nvPr/>
        </p:nvSpPr>
        <p:spPr>
          <a:xfrm>
            <a:off x="3383280" y="2395728"/>
            <a:ext cx="384048" cy="384048"/>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2</a:t>
            </a:r>
            <a:endParaRPr lang="en-US" sz="1400" dirty="0"/>
          </a:p>
        </p:txBody>
      </p:sp>
      <p:sp>
        <p:nvSpPr>
          <p:cNvPr id="29" name="Text 27"/>
          <p:cNvSpPr txBox="1"/>
          <p:nvPr/>
        </p:nvSpPr>
        <p:spPr>
          <a:xfrm>
            <a:off x="3886200" y="2331720"/>
            <a:ext cx="1920240" cy="274320"/>
          </a:xfrm>
          <a:prstGeom prst="rect">
            <a:avLst/>
          </a:prstGeom>
          <a:noFill/>
          <a:ln/>
        </p:spPr>
        <p:txBody>
          <a:bodyPr wrap="square" lIns="0" tIns="0" rIns="0" bIns="0" rtlCol="0" anchor="t"/>
          <a:lstStyle/>
          <a:p>
            <a:pPr marL="0" indent="0">
              <a:buNone/>
            </a:pPr>
            <a:r>
              <a:rPr lang="en-US" sz="1400" b="1" dirty="0">
                <a:solidFill>
                  <a:srgbClr val="2B2A4C"/>
                </a:solidFill>
                <a:latin typeface="Calibri" pitchFamily="34" charset="0"/>
                <a:ea typeface="Calibri" pitchFamily="34" charset="-122"/>
                <a:cs typeface="Calibri" pitchFamily="34" charset="-120"/>
              </a:rPr>
              <a:t>Interactive DP Matrix</a:t>
            </a:r>
            <a:endParaRPr lang="en-US" sz="1400" dirty="0"/>
          </a:p>
        </p:txBody>
      </p:sp>
      <p:sp>
        <p:nvSpPr>
          <p:cNvPr id="30" name="Text 28"/>
          <p:cNvSpPr txBox="1"/>
          <p:nvPr/>
        </p:nvSpPr>
        <p:spPr>
          <a:xfrm>
            <a:off x="3886200" y="2624328"/>
            <a:ext cx="1920240" cy="50292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See how every state is calculated.</a:t>
            </a:r>
            <a:endParaRPr lang="en-US" sz="1200" dirty="0"/>
          </a:p>
        </p:txBody>
      </p:sp>
      <p:sp>
        <p:nvSpPr>
          <p:cNvPr id="31" name="Shape 29"/>
          <p:cNvSpPr/>
          <p:nvPr/>
        </p:nvSpPr>
        <p:spPr>
          <a:xfrm>
            <a:off x="6035040" y="2240280"/>
            <a:ext cx="2651760" cy="960120"/>
          </a:xfrm>
          <a:prstGeom prst="roundRect">
            <a:avLst>
              <a:gd name="adj" fmla="val 7619"/>
            </a:avLst>
          </a:prstGeom>
          <a:solidFill>
            <a:srgbClr val="FFFFFF"/>
          </a:solidFill>
          <a:ln w="9525">
            <a:solidFill>
              <a:srgbClr val="D9D0F2"/>
            </a:solidFill>
            <a:prstDash val="solid"/>
          </a:ln>
        </p:spPr>
      </p:sp>
      <p:sp>
        <p:nvSpPr>
          <p:cNvPr id="32" name="Shape 30"/>
          <p:cNvSpPr/>
          <p:nvPr/>
        </p:nvSpPr>
        <p:spPr>
          <a:xfrm>
            <a:off x="6172200" y="2395728"/>
            <a:ext cx="384048" cy="384048"/>
          </a:xfrm>
          <a:prstGeom prst="ellipse">
            <a:avLst/>
          </a:prstGeom>
          <a:solidFill>
            <a:srgbClr val="86DCCB"/>
          </a:solidFill>
          <a:ln w="12700">
            <a:solidFill>
              <a:srgbClr val="86DCCB"/>
            </a:solidFill>
            <a:prstDash val="solid"/>
          </a:ln>
        </p:spPr>
      </p:sp>
      <p:sp>
        <p:nvSpPr>
          <p:cNvPr id="33" name="Text 31"/>
          <p:cNvSpPr txBox="1"/>
          <p:nvPr/>
        </p:nvSpPr>
        <p:spPr>
          <a:xfrm>
            <a:off x="6172200" y="2395728"/>
            <a:ext cx="384048" cy="384048"/>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3</a:t>
            </a:r>
            <a:endParaRPr lang="en-US" sz="1400" dirty="0"/>
          </a:p>
        </p:txBody>
      </p:sp>
      <p:sp>
        <p:nvSpPr>
          <p:cNvPr id="34" name="Text 32"/>
          <p:cNvSpPr txBox="1"/>
          <p:nvPr/>
        </p:nvSpPr>
        <p:spPr>
          <a:xfrm>
            <a:off x="6675120" y="2331720"/>
            <a:ext cx="1920240" cy="274320"/>
          </a:xfrm>
          <a:prstGeom prst="rect">
            <a:avLst/>
          </a:prstGeom>
          <a:noFill/>
          <a:ln/>
        </p:spPr>
        <p:txBody>
          <a:bodyPr wrap="square" lIns="0" tIns="0" rIns="0" bIns="0" rtlCol="0" anchor="t"/>
          <a:lstStyle/>
          <a:p>
            <a:pPr marL="0" indent="0">
              <a:buNone/>
            </a:pPr>
            <a:r>
              <a:rPr lang="en-US" sz="1400" b="1" dirty="0">
                <a:solidFill>
                  <a:srgbClr val="2B2A4C"/>
                </a:solidFill>
                <a:latin typeface="Calibri" pitchFamily="34" charset="0"/>
                <a:ea typeface="Calibri" pitchFamily="34" charset="-122"/>
                <a:cs typeface="Calibri" pitchFamily="34" charset="-120"/>
              </a:rPr>
              <a:t>Animated Traceback</a:t>
            </a:r>
            <a:endParaRPr lang="en-US" sz="1400" dirty="0"/>
          </a:p>
        </p:txBody>
      </p:sp>
      <p:sp>
        <p:nvSpPr>
          <p:cNvPr id="35" name="Text 33"/>
          <p:cNvSpPr txBox="1"/>
          <p:nvPr/>
        </p:nvSpPr>
        <p:spPr>
          <a:xfrm>
            <a:off x="6675120" y="2624328"/>
            <a:ext cx="1920240" cy="50292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Follow the path that reconstructs the LCS.</a:t>
            </a:r>
            <a:endParaRPr lang="en-US" sz="1200" dirty="0"/>
          </a:p>
        </p:txBody>
      </p:sp>
      <p:sp>
        <p:nvSpPr>
          <p:cNvPr id="36" name="Shape 34"/>
          <p:cNvSpPr/>
          <p:nvPr/>
        </p:nvSpPr>
        <p:spPr>
          <a:xfrm>
            <a:off x="457200" y="3291840"/>
            <a:ext cx="2651760" cy="960120"/>
          </a:xfrm>
          <a:prstGeom prst="roundRect">
            <a:avLst>
              <a:gd name="adj" fmla="val 7619"/>
            </a:avLst>
          </a:prstGeom>
          <a:solidFill>
            <a:srgbClr val="FFFFFF"/>
          </a:solidFill>
          <a:ln w="9525">
            <a:solidFill>
              <a:srgbClr val="D9D0F2"/>
            </a:solidFill>
            <a:prstDash val="solid"/>
          </a:ln>
        </p:spPr>
      </p:sp>
      <p:sp>
        <p:nvSpPr>
          <p:cNvPr id="37" name="Shape 35"/>
          <p:cNvSpPr/>
          <p:nvPr/>
        </p:nvSpPr>
        <p:spPr>
          <a:xfrm>
            <a:off x="594360" y="3447288"/>
            <a:ext cx="384048" cy="384048"/>
          </a:xfrm>
          <a:prstGeom prst="ellipse">
            <a:avLst/>
          </a:prstGeom>
          <a:solidFill>
            <a:srgbClr val="BBA6F5"/>
          </a:solidFill>
          <a:ln w="12700">
            <a:solidFill>
              <a:srgbClr val="BBA6F5"/>
            </a:solidFill>
            <a:prstDash val="solid"/>
          </a:ln>
        </p:spPr>
      </p:sp>
      <p:sp>
        <p:nvSpPr>
          <p:cNvPr id="38" name="Text 36"/>
          <p:cNvSpPr txBox="1"/>
          <p:nvPr/>
        </p:nvSpPr>
        <p:spPr>
          <a:xfrm>
            <a:off x="594360" y="3447288"/>
            <a:ext cx="384048" cy="384048"/>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4</a:t>
            </a:r>
            <a:endParaRPr lang="en-US" sz="1400" dirty="0"/>
          </a:p>
        </p:txBody>
      </p:sp>
      <p:sp>
        <p:nvSpPr>
          <p:cNvPr id="39" name="Text 37"/>
          <p:cNvSpPr txBox="1"/>
          <p:nvPr/>
        </p:nvSpPr>
        <p:spPr>
          <a:xfrm>
            <a:off x="1097280" y="3383280"/>
            <a:ext cx="1920240" cy="274320"/>
          </a:xfrm>
          <a:prstGeom prst="rect">
            <a:avLst/>
          </a:prstGeom>
          <a:noFill/>
          <a:ln/>
        </p:spPr>
        <p:txBody>
          <a:bodyPr wrap="square" lIns="0" tIns="0" rIns="0" bIns="0" rtlCol="0" anchor="t"/>
          <a:lstStyle/>
          <a:p>
            <a:pPr marL="0" indent="0">
              <a:buNone/>
            </a:pPr>
            <a:r>
              <a:rPr lang="en-US" sz="1400" b="1" dirty="0">
                <a:solidFill>
                  <a:srgbClr val="2B2A4C"/>
                </a:solidFill>
                <a:latin typeface="Calibri" pitchFamily="34" charset="0"/>
                <a:ea typeface="Calibri" pitchFamily="34" charset="-122"/>
                <a:cs typeface="Calibri" pitchFamily="34" charset="-120"/>
              </a:rPr>
              <a:t>Similarity &amp; Coverage</a:t>
            </a:r>
            <a:endParaRPr lang="en-US" sz="1400" dirty="0"/>
          </a:p>
        </p:txBody>
      </p:sp>
      <p:sp>
        <p:nvSpPr>
          <p:cNvPr id="40" name="Text 38"/>
          <p:cNvSpPr txBox="1"/>
          <p:nvPr/>
        </p:nvSpPr>
        <p:spPr>
          <a:xfrm>
            <a:off x="1097280" y="3675888"/>
            <a:ext cx="1920240" cy="50292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Understand how much ordered information is shared.</a:t>
            </a:r>
            <a:endParaRPr lang="en-US" sz="1200" dirty="0"/>
          </a:p>
        </p:txBody>
      </p:sp>
      <p:sp>
        <p:nvSpPr>
          <p:cNvPr id="41" name="Shape 39"/>
          <p:cNvSpPr/>
          <p:nvPr/>
        </p:nvSpPr>
        <p:spPr>
          <a:xfrm>
            <a:off x="3246120" y="3291840"/>
            <a:ext cx="2651760" cy="960120"/>
          </a:xfrm>
          <a:prstGeom prst="roundRect">
            <a:avLst>
              <a:gd name="adj" fmla="val 7619"/>
            </a:avLst>
          </a:prstGeom>
          <a:solidFill>
            <a:srgbClr val="FFFFFF"/>
          </a:solidFill>
          <a:ln w="9525">
            <a:solidFill>
              <a:srgbClr val="D9D0F2"/>
            </a:solidFill>
            <a:prstDash val="solid"/>
          </a:ln>
        </p:spPr>
      </p:sp>
      <p:sp>
        <p:nvSpPr>
          <p:cNvPr id="42" name="Shape 40"/>
          <p:cNvSpPr/>
          <p:nvPr/>
        </p:nvSpPr>
        <p:spPr>
          <a:xfrm>
            <a:off x="3383280" y="3447288"/>
            <a:ext cx="384048" cy="384048"/>
          </a:xfrm>
          <a:prstGeom prst="ellipse">
            <a:avLst/>
          </a:prstGeom>
          <a:solidFill>
            <a:srgbClr val="86DCCB"/>
          </a:solidFill>
          <a:ln w="12700">
            <a:solidFill>
              <a:srgbClr val="86DCCB"/>
            </a:solidFill>
            <a:prstDash val="solid"/>
          </a:ln>
        </p:spPr>
      </p:sp>
      <p:sp>
        <p:nvSpPr>
          <p:cNvPr id="43" name="Text 41"/>
          <p:cNvSpPr txBox="1"/>
          <p:nvPr/>
        </p:nvSpPr>
        <p:spPr>
          <a:xfrm>
            <a:off x="3383280" y="3447288"/>
            <a:ext cx="384048" cy="384048"/>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5</a:t>
            </a:r>
            <a:endParaRPr lang="en-US" sz="1400" dirty="0"/>
          </a:p>
        </p:txBody>
      </p:sp>
      <p:sp>
        <p:nvSpPr>
          <p:cNvPr id="44" name="Text 42"/>
          <p:cNvSpPr txBox="1"/>
          <p:nvPr/>
        </p:nvSpPr>
        <p:spPr>
          <a:xfrm>
            <a:off x="3886200" y="3383280"/>
            <a:ext cx="1920240" cy="274320"/>
          </a:xfrm>
          <a:prstGeom prst="rect">
            <a:avLst/>
          </a:prstGeom>
          <a:noFill/>
          <a:ln/>
        </p:spPr>
        <p:txBody>
          <a:bodyPr wrap="square" lIns="0" tIns="0" rIns="0" bIns="0" rtlCol="0" anchor="t"/>
          <a:lstStyle/>
          <a:p>
            <a:pPr marL="0" indent="0">
              <a:buNone/>
            </a:pPr>
            <a:r>
              <a:rPr lang="en-US" sz="1400" b="1" dirty="0">
                <a:solidFill>
                  <a:srgbClr val="2B2A4C"/>
                </a:solidFill>
                <a:latin typeface="Calibri" pitchFamily="34" charset="0"/>
                <a:ea typeface="Calibri" pitchFamily="34" charset="-122"/>
                <a:cs typeface="Calibri" pitchFamily="34" charset="-120"/>
              </a:rPr>
              <a:t>Algorithm Comparison</a:t>
            </a:r>
            <a:endParaRPr lang="en-US" sz="1400" dirty="0"/>
          </a:p>
        </p:txBody>
      </p:sp>
      <p:sp>
        <p:nvSpPr>
          <p:cNvPr id="45" name="Text 43"/>
          <p:cNvSpPr txBox="1"/>
          <p:nvPr/>
        </p:nvSpPr>
        <p:spPr>
          <a:xfrm>
            <a:off x="3886200" y="3675888"/>
            <a:ext cx="1920240" cy="50292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Recursion, memoization, tabulation and optimized approaches.</a:t>
            </a:r>
            <a:endParaRPr lang="en-US" sz="1200" dirty="0"/>
          </a:p>
        </p:txBody>
      </p:sp>
      <p:sp>
        <p:nvSpPr>
          <p:cNvPr id="46" name="Shape 44"/>
          <p:cNvSpPr/>
          <p:nvPr/>
        </p:nvSpPr>
        <p:spPr>
          <a:xfrm>
            <a:off x="6035040" y="3291840"/>
            <a:ext cx="2651760" cy="960120"/>
          </a:xfrm>
          <a:prstGeom prst="roundRect">
            <a:avLst>
              <a:gd name="adj" fmla="val 7619"/>
            </a:avLst>
          </a:prstGeom>
          <a:solidFill>
            <a:srgbClr val="FFFFFF"/>
          </a:solidFill>
          <a:ln w="9525">
            <a:solidFill>
              <a:srgbClr val="D9D0F2"/>
            </a:solidFill>
            <a:prstDash val="solid"/>
          </a:ln>
        </p:spPr>
      </p:sp>
      <p:sp>
        <p:nvSpPr>
          <p:cNvPr id="47" name="Shape 45"/>
          <p:cNvSpPr/>
          <p:nvPr/>
        </p:nvSpPr>
        <p:spPr>
          <a:xfrm>
            <a:off x="6172200" y="3447288"/>
            <a:ext cx="384048" cy="384048"/>
          </a:xfrm>
          <a:prstGeom prst="ellipse">
            <a:avLst/>
          </a:prstGeom>
          <a:solidFill>
            <a:srgbClr val="BBA6F5"/>
          </a:solidFill>
          <a:ln w="12700">
            <a:solidFill>
              <a:srgbClr val="BBA6F5"/>
            </a:solidFill>
            <a:prstDash val="solid"/>
          </a:ln>
        </p:spPr>
      </p:sp>
      <p:sp>
        <p:nvSpPr>
          <p:cNvPr id="48" name="Text 46"/>
          <p:cNvSpPr txBox="1"/>
          <p:nvPr/>
        </p:nvSpPr>
        <p:spPr>
          <a:xfrm>
            <a:off x="6172200" y="3447288"/>
            <a:ext cx="384048" cy="384048"/>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6</a:t>
            </a:r>
            <a:endParaRPr lang="en-US" sz="1400" dirty="0"/>
          </a:p>
        </p:txBody>
      </p:sp>
      <p:sp>
        <p:nvSpPr>
          <p:cNvPr id="49" name="Text 47"/>
          <p:cNvSpPr txBox="1"/>
          <p:nvPr/>
        </p:nvSpPr>
        <p:spPr>
          <a:xfrm>
            <a:off x="6675120" y="3383280"/>
            <a:ext cx="1920240" cy="274320"/>
          </a:xfrm>
          <a:prstGeom prst="rect">
            <a:avLst/>
          </a:prstGeom>
          <a:noFill/>
          <a:ln/>
        </p:spPr>
        <p:txBody>
          <a:bodyPr wrap="square" lIns="0" tIns="0" rIns="0" bIns="0" rtlCol="0" anchor="t"/>
          <a:lstStyle/>
          <a:p>
            <a:pPr marL="0" indent="0">
              <a:buNone/>
            </a:pPr>
            <a:r>
              <a:rPr lang="en-US" sz="1400" b="1" dirty="0">
                <a:solidFill>
                  <a:srgbClr val="2B2A4C"/>
                </a:solidFill>
                <a:latin typeface="Calibri" pitchFamily="34" charset="0"/>
                <a:ea typeface="Calibri" pitchFamily="34" charset="-122"/>
                <a:cs typeface="Calibri" pitchFamily="34" charset="-120"/>
              </a:rPr>
              <a:t>Biopython Alignment</a:t>
            </a:r>
            <a:endParaRPr lang="en-US" sz="1400" dirty="0"/>
          </a:p>
        </p:txBody>
      </p:sp>
      <p:sp>
        <p:nvSpPr>
          <p:cNvPr id="50" name="Text 48"/>
          <p:cNvSpPr txBox="1"/>
          <p:nvPr/>
        </p:nvSpPr>
        <p:spPr>
          <a:xfrm>
            <a:off x="6675120" y="3675888"/>
            <a:ext cx="1920240" cy="502920"/>
          </a:xfrm>
          <a:prstGeom prst="rect">
            <a:avLst/>
          </a:prstGeom>
          <a:noFill/>
          <a:ln/>
        </p:spPr>
        <p:txBody>
          <a:bodyPr wrap="square" lIns="0" tIns="0" rIns="0" bIns="0" rtlCol="0" anchor="t"/>
          <a:lstStyle/>
          <a:p>
            <a:pPr marL="0" indent="0">
              <a:buNone/>
            </a:pPr>
            <a:r>
              <a:rPr lang="en-US" sz="1200" dirty="0">
                <a:solidFill>
                  <a:srgbClr val="4A4870"/>
                </a:solidFill>
                <a:latin typeface="Calibri" pitchFamily="34" charset="0"/>
                <a:ea typeface="Calibri" pitchFamily="34" charset="-122"/>
                <a:cs typeface="Calibri" pitchFamily="34" charset="-120"/>
              </a:rPr>
              <a:t>Compare LCS results with scored global alignment.</a:t>
            </a:r>
            <a:endParaRPr lang="en-US" sz="1200" dirty="0"/>
          </a:p>
        </p:txBody>
      </p:sp>
      <p:sp>
        <p:nvSpPr>
          <p:cNvPr id="51" name="Text 49"/>
          <p:cNvSpPr txBox="1"/>
          <p:nvPr/>
        </p:nvSpPr>
        <p:spPr>
          <a:xfrm>
            <a:off x="457200" y="4389120"/>
            <a:ext cx="8229600" cy="320040"/>
          </a:xfrm>
          <a:prstGeom prst="rect">
            <a:avLst/>
          </a:prstGeom>
          <a:noFill/>
          <a:ln/>
        </p:spPr>
        <p:txBody>
          <a:bodyPr wrap="square" lIns="0" tIns="0" rIns="0" bIns="0" rtlCol="0" anchor="ctr"/>
          <a:lstStyle/>
          <a:p>
            <a:pPr marL="0" indent="0" algn="ctr">
              <a:buNone/>
            </a:pPr>
            <a:r>
              <a:rPr lang="en-US" sz="1500" i="1" dirty="0">
                <a:solidFill>
                  <a:srgbClr val="6B46C1"/>
                </a:solidFill>
                <a:latin typeface="Calibri" pitchFamily="34" charset="0"/>
                <a:ea typeface="Calibri" pitchFamily="34" charset="-122"/>
                <a:cs typeface="Calibri" pitchFamily="34" charset="-120"/>
              </a:rPr>
              <a:t>We don't hide the algorithm behind the interface — we make the algorithm the interface.</a:t>
            </a:r>
            <a:endParaRPr lang="en-US" sz="1500" dirty="0"/>
          </a:p>
        </p:txBody>
      </p:sp>
      <p:sp>
        <p:nvSpPr>
          <p:cNvPr id="52"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rgbClr val="2B2A4C"/>
                </a:solidFill>
              </a:rPr>
              <a:t>From DNA Input to Explainable Result</a:t>
            </a:r>
            <a:endParaRPr lang="en-US" sz="3400" dirty="0"/>
          </a:p>
        </p:txBody>
      </p:sp>
      <p:sp>
        <p:nvSpPr>
          <p:cNvPr id="3" name="Shape 1"/>
          <p:cNvSpPr/>
          <p:nvPr/>
        </p:nvSpPr>
        <p:spPr>
          <a:xfrm>
            <a:off x="457200" y="1188720"/>
            <a:ext cx="1280160" cy="1143000"/>
          </a:xfrm>
          <a:prstGeom prst="roundRect">
            <a:avLst>
              <a:gd name="adj" fmla="val 6400"/>
            </a:avLst>
          </a:prstGeom>
          <a:solidFill>
            <a:srgbClr val="FFFFFF"/>
          </a:solidFill>
          <a:ln w="9525">
            <a:solidFill>
              <a:srgbClr val="D9D0F2"/>
            </a:solidFill>
            <a:prstDash val="solid"/>
          </a:ln>
        </p:spPr>
      </p:sp>
      <p:sp>
        <p:nvSpPr>
          <p:cNvPr id="4" name="Text 2"/>
          <p:cNvSpPr txBox="1"/>
          <p:nvPr/>
        </p:nvSpPr>
        <p:spPr>
          <a:xfrm>
            <a:off x="521208" y="1261872"/>
            <a:ext cx="1152144" cy="457200"/>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DNA INPUT</a:t>
            </a:r>
            <a:endParaRPr lang="en-US" sz="1100" dirty="0"/>
          </a:p>
        </p:txBody>
      </p:sp>
      <p:sp>
        <p:nvSpPr>
          <p:cNvPr id="5" name="Text 3"/>
          <p:cNvSpPr txBox="1"/>
          <p:nvPr/>
        </p:nvSpPr>
        <p:spPr>
          <a:xfrm>
            <a:off x="521208" y="1737360"/>
            <a:ext cx="1152144" cy="548640"/>
          </a:xfrm>
          <a:prstGeom prst="rect">
            <a:avLst/>
          </a:prstGeom>
          <a:noFill/>
          <a:ln/>
        </p:spPr>
        <p:txBody>
          <a:bodyPr wrap="square" lIns="0" tIns="0" rIns="0" bIns="0" rtlCol="0" anchor="t"/>
          <a:lstStyle/>
          <a:p>
            <a:pPr marL="0" indent="0" algn="ctr">
              <a:buNone/>
            </a:pPr>
            <a:r>
              <a:rPr lang="en-US" sz="1100" dirty="0">
                <a:solidFill>
                  <a:srgbClr val="4A4870"/>
                </a:solidFill>
                <a:latin typeface="Calibri" pitchFamily="34" charset="0"/>
                <a:ea typeface="Calibri" pitchFamily="34" charset="-122"/>
                <a:cs typeface="Calibri" pitchFamily="34" charset="-120"/>
              </a:rPr>
              <a:t>A + B</a:t>
            </a:r>
            <a:endParaRPr lang="en-US" sz="1100" dirty="0"/>
          </a:p>
        </p:txBody>
      </p:sp>
      <p:sp>
        <p:nvSpPr>
          <p:cNvPr id="6" name="Shape 4"/>
          <p:cNvSpPr/>
          <p:nvPr/>
        </p:nvSpPr>
        <p:spPr>
          <a:xfrm>
            <a:off x="1737360" y="1755648"/>
            <a:ext cx="109728" cy="0"/>
          </a:xfrm>
          <a:prstGeom prst="line">
            <a:avLst/>
          </a:prstGeom>
          <a:noFill/>
          <a:ln w="15875">
            <a:solidFill>
              <a:srgbClr val="6B6890"/>
            </a:solidFill>
            <a:prstDash val="solid"/>
            <a:tailEnd type="triangle"/>
          </a:ln>
        </p:spPr>
      </p:sp>
      <p:sp>
        <p:nvSpPr>
          <p:cNvPr id="7" name="Shape 5"/>
          <p:cNvSpPr/>
          <p:nvPr/>
        </p:nvSpPr>
        <p:spPr>
          <a:xfrm>
            <a:off x="1847088" y="1188720"/>
            <a:ext cx="1280160" cy="1143000"/>
          </a:xfrm>
          <a:prstGeom prst="roundRect">
            <a:avLst>
              <a:gd name="adj" fmla="val 6400"/>
            </a:avLst>
          </a:prstGeom>
          <a:solidFill>
            <a:srgbClr val="FFFFFF"/>
          </a:solidFill>
          <a:ln w="9525">
            <a:solidFill>
              <a:srgbClr val="D9D0F2"/>
            </a:solidFill>
            <a:prstDash val="solid"/>
          </a:ln>
        </p:spPr>
      </p:sp>
      <p:sp>
        <p:nvSpPr>
          <p:cNvPr id="8" name="Text 6"/>
          <p:cNvSpPr txBox="1"/>
          <p:nvPr/>
        </p:nvSpPr>
        <p:spPr>
          <a:xfrm>
            <a:off x="1911096" y="1261872"/>
            <a:ext cx="1152144" cy="457200"/>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PREPROCESS</a:t>
            </a:r>
            <a:endParaRPr lang="en-US" sz="1100" dirty="0"/>
          </a:p>
        </p:txBody>
      </p:sp>
      <p:sp>
        <p:nvSpPr>
          <p:cNvPr id="9" name="Text 7"/>
          <p:cNvSpPr txBox="1"/>
          <p:nvPr/>
        </p:nvSpPr>
        <p:spPr>
          <a:xfrm>
            <a:off x="1911096" y="1737360"/>
            <a:ext cx="1152144" cy="548640"/>
          </a:xfrm>
          <a:prstGeom prst="rect">
            <a:avLst/>
          </a:prstGeom>
          <a:noFill/>
          <a:ln/>
        </p:spPr>
        <p:txBody>
          <a:bodyPr wrap="square" lIns="0" tIns="0" rIns="0" bIns="0" rtlCol="0" anchor="t"/>
          <a:lstStyle/>
          <a:p>
            <a:pPr marL="0" indent="0" algn="ctr">
              <a:buNone/>
            </a:pPr>
            <a:r>
              <a:rPr lang="en-US" sz="1100" dirty="0">
                <a:solidFill>
                  <a:srgbClr val="4A4870"/>
                </a:solidFill>
                <a:latin typeface="Calibri" pitchFamily="34" charset="0"/>
                <a:ea typeface="Calibri" pitchFamily="34" charset="-122"/>
                <a:cs typeface="Calibri" pitchFamily="34" charset="-120"/>
              </a:rPr>
              <a:t>Clean / Parse</a:t>
            </a:r>
            <a:endParaRPr lang="en-US" sz="1100" dirty="0"/>
          </a:p>
        </p:txBody>
      </p:sp>
      <p:sp>
        <p:nvSpPr>
          <p:cNvPr id="10" name="Shape 8"/>
          <p:cNvSpPr/>
          <p:nvPr/>
        </p:nvSpPr>
        <p:spPr>
          <a:xfrm>
            <a:off x="3127248" y="1755648"/>
            <a:ext cx="109728" cy="0"/>
          </a:xfrm>
          <a:prstGeom prst="line">
            <a:avLst/>
          </a:prstGeom>
          <a:noFill/>
          <a:ln w="15875">
            <a:solidFill>
              <a:srgbClr val="6B6890"/>
            </a:solidFill>
            <a:prstDash val="solid"/>
            <a:tailEnd type="triangle"/>
          </a:ln>
        </p:spPr>
      </p:sp>
      <p:sp>
        <p:nvSpPr>
          <p:cNvPr id="11" name="Shape 9"/>
          <p:cNvSpPr/>
          <p:nvPr/>
        </p:nvSpPr>
        <p:spPr>
          <a:xfrm>
            <a:off x="3236976" y="1188720"/>
            <a:ext cx="1280160" cy="1143000"/>
          </a:xfrm>
          <a:prstGeom prst="roundRect">
            <a:avLst>
              <a:gd name="adj" fmla="val 6400"/>
            </a:avLst>
          </a:prstGeom>
          <a:solidFill>
            <a:srgbClr val="FFFFFF"/>
          </a:solidFill>
          <a:ln w="9525">
            <a:solidFill>
              <a:srgbClr val="D9D0F2"/>
            </a:solidFill>
            <a:prstDash val="solid"/>
          </a:ln>
        </p:spPr>
      </p:sp>
      <p:sp>
        <p:nvSpPr>
          <p:cNvPr id="12" name="Text 10"/>
          <p:cNvSpPr txBox="1"/>
          <p:nvPr/>
        </p:nvSpPr>
        <p:spPr>
          <a:xfrm>
            <a:off x="3300984" y="1261872"/>
            <a:ext cx="1152144" cy="457200"/>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DYNAMIC PROGRAMMING</a:t>
            </a:r>
            <a:endParaRPr lang="en-US" sz="1100" dirty="0"/>
          </a:p>
        </p:txBody>
      </p:sp>
      <p:sp>
        <p:nvSpPr>
          <p:cNvPr id="13" name="Text 11"/>
          <p:cNvSpPr txBox="1"/>
          <p:nvPr/>
        </p:nvSpPr>
        <p:spPr>
          <a:xfrm>
            <a:off x="3300984" y="1737360"/>
            <a:ext cx="1152144" cy="548640"/>
          </a:xfrm>
          <a:prstGeom prst="rect">
            <a:avLst/>
          </a:prstGeom>
          <a:noFill/>
          <a:ln/>
        </p:spPr>
        <p:txBody>
          <a:bodyPr wrap="square" lIns="0" tIns="0" rIns="0" bIns="0" rtlCol="0" anchor="t"/>
          <a:lstStyle/>
          <a:p>
            <a:pPr marL="0" indent="0" algn="ctr">
              <a:buNone/>
            </a:pPr>
            <a:r>
              <a:rPr lang="en-US" sz="1100" dirty="0">
                <a:solidFill>
                  <a:srgbClr val="4A4870"/>
                </a:solidFill>
                <a:latin typeface="Calibri" pitchFamily="34" charset="0"/>
                <a:ea typeface="Calibri" pitchFamily="34" charset="-122"/>
                <a:cs typeface="Calibri" pitchFamily="34" charset="-120"/>
              </a:rPr>
              <a:t>Build DP Matrix</a:t>
            </a:r>
            <a:endParaRPr lang="en-US" sz="1100" dirty="0"/>
          </a:p>
        </p:txBody>
      </p:sp>
      <p:sp>
        <p:nvSpPr>
          <p:cNvPr id="14" name="Shape 12"/>
          <p:cNvSpPr/>
          <p:nvPr/>
        </p:nvSpPr>
        <p:spPr>
          <a:xfrm>
            <a:off x="4517136" y="1755648"/>
            <a:ext cx="109728" cy="0"/>
          </a:xfrm>
          <a:prstGeom prst="line">
            <a:avLst/>
          </a:prstGeom>
          <a:noFill/>
          <a:ln w="15875">
            <a:solidFill>
              <a:srgbClr val="6B6890"/>
            </a:solidFill>
            <a:prstDash val="solid"/>
            <a:tailEnd type="triangle"/>
          </a:ln>
        </p:spPr>
      </p:sp>
      <p:sp>
        <p:nvSpPr>
          <p:cNvPr id="15" name="Shape 13"/>
          <p:cNvSpPr/>
          <p:nvPr/>
        </p:nvSpPr>
        <p:spPr>
          <a:xfrm>
            <a:off x="4626864" y="1188720"/>
            <a:ext cx="1280160" cy="1143000"/>
          </a:xfrm>
          <a:prstGeom prst="roundRect">
            <a:avLst>
              <a:gd name="adj" fmla="val 6400"/>
            </a:avLst>
          </a:prstGeom>
          <a:solidFill>
            <a:srgbClr val="FFFFFF"/>
          </a:solidFill>
          <a:ln w="9525">
            <a:solidFill>
              <a:srgbClr val="D9D0F2"/>
            </a:solidFill>
            <a:prstDash val="solid"/>
          </a:ln>
        </p:spPr>
      </p:sp>
      <p:sp>
        <p:nvSpPr>
          <p:cNvPr id="16" name="Text 14"/>
          <p:cNvSpPr txBox="1"/>
          <p:nvPr/>
        </p:nvSpPr>
        <p:spPr>
          <a:xfrm>
            <a:off x="4690872" y="1261872"/>
            <a:ext cx="1152144" cy="457200"/>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LCS CALCULATION</a:t>
            </a:r>
            <a:endParaRPr lang="en-US" sz="1100" dirty="0"/>
          </a:p>
        </p:txBody>
      </p:sp>
      <p:sp>
        <p:nvSpPr>
          <p:cNvPr id="17" name="Text 15"/>
          <p:cNvSpPr txBox="1"/>
          <p:nvPr/>
        </p:nvSpPr>
        <p:spPr>
          <a:xfrm>
            <a:off x="4690872" y="1737360"/>
            <a:ext cx="1152144" cy="548640"/>
          </a:xfrm>
          <a:prstGeom prst="rect">
            <a:avLst/>
          </a:prstGeom>
          <a:noFill/>
          <a:ln/>
        </p:spPr>
        <p:txBody>
          <a:bodyPr wrap="square" lIns="0" tIns="0" rIns="0" bIns="0" rtlCol="0" anchor="t"/>
          <a:lstStyle/>
          <a:p>
            <a:pPr marL="0" indent="0" algn="ctr">
              <a:buNone/>
            </a:pPr>
            <a:r>
              <a:rPr lang="en-US" sz="1100" dirty="0">
                <a:solidFill>
                  <a:srgbClr val="4A4870"/>
                </a:solidFill>
                <a:latin typeface="Calibri" pitchFamily="34" charset="0"/>
                <a:ea typeface="Calibri" pitchFamily="34" charset="-122"/>
                <a:cs typeface="Calibri" pitchFamily="34" charset="-120"/>
              </a:rPr>
              <a:t>Fill &amp; read table</a:t>
            </a:r>
            <a:endParaRPr lang="en-US" sz="1100" dirty="0"/>
          </a:p>
        </p:txBody>
      </p:sp>
      <p:sp>
        <p:nvSpPr>
          <p:cNvPr id="18" name="Shape 16"/>
          <p:cNvSpPr/>
          <p:nvPr/>
        </p:nvSpPr>
        <p:spPr>
          <a:xfrm>
            <a:off x="5907024" y="1755648"/>
            <a:ext cx="109728" cy="0"/>
          </a:xfrm>
          <a:prstGeom prst="line">
            <a:avLst/>
          </a:prstGeom>
          <a:noFill/>
          <a:ln w="15875">
            <a:solidFill>
              <a:srgbClr val="6B6890"/>
            </a:solidFill>
            <a:prstDash val="solid"/>
            <a:tailEnd type="triangle"/>
          </a:ln>
        </p:spPr>
      </p:sp>
      <p:sp>
        <p:nvSpPr>
          <p:cNvPr id="19" name="Shape 17"/>
          <p:cNvSpPr/>
          <p:nvPr/>
        </p:nvSpPr>
        <p:spPr>
          <a:xfrm>
            <a:off x="6016752" y="1188720"/>
            <a:ext cx="1280160" cy="1143000"/>
          </a:xfrm>
          <a:prstGeom prst="roundRect">
            <a:avLst>
              <a:gd name="adj" fmla="val 6400"/>
            </a:avLst>
          </a:prstGeom>
          <a:solidFill>
            <a:srgbClr val="FFFFFF"/>
          </a:solidFill>
          <a:ln w="9525">
            <a:solidFill>
              <a:srgbClr val="D9D0F2"/>
            </a:solidFill>
            <a:prstDash val="solid"/>
          </a:ln>
        </p:spPr>
      </p:sp>
      <p:sp>
        <p:nvSpPr>
          <p:cNvPr id="20" name="Text 18"/>
          <p:cNvSpPr txBox="1"/>
          <p:nvPr/>
        </p:nvSpPr>
        <p:spPr>
          <a:xfrm>
            <a:off x="6080760" y="1261872"/>
            <a:ext cx="1152144" cy="457200"/>
          </a:xfrm>
          <a:prstGeom prst="rect">
            <a:avLst/>
          </a:prstGeom>
          <a:noFill/>
          <a:ln/>
        </p:spPr>
        <p:txBody>
          <a:bodyPr wrap="square" lIns="0" tIns="0" rIns="0" bIns="0" rtlCol="0" anchor="ctr"/>
          <a:lstStyle/>
          <a:p>
            <a:pPr marL="0" indent="0" algn="ctr">
              <a:buNone/>
            </a:pPr>
            <a:r>
              <a:rPr lang="en-US" sz="1100" b="1" dirty="0">
                <a:solidFill>
                  <a:srgbClr val="0F766E"/>
                </a:solidFill>
                <a:latin typeface="Calibri" pitchFamily="34" charset="0"/>
                <a:ea typeface="Calibri" pitchFamily="34" charset="-122"/>
                <a:cs typeface="Calibri" pitchFamily="34" charset="-120"/>
              </a:rPr>
              <a:t>TRACEBACK</a:t>
            </a:r>
            <a:endParaRPr lang="en-US" sz="1100" dirty="0"/>
          </a:p>
        </p:txBody>
      </p:sp>
      <p:sp>
        <p:nvSpPr>
          <p:cNvPr id="21" name="Text 19"/>
          <p:cNvSpPr txBox="1"/>
          <p:nvPr/>
        </p:nvSpPr>
        <p:spPr>
          <a:xfrm>
            <a:off x="6080760" y="1737360"/>
            <a:ext cx="1152144" cy="548640"/>
          </a:xfrm>
          <a:prstGeom prst="rect">
            <a:avLst/>
          </a:prstGeom>
          <a:noFill/>
          <a:ln/>
        </p:spPr>
        <p:txBody>
          <a:bodyPr wrap="square" lIns="0" tIns="0" rIns="0" bIns="0" rtlCol="0" anchor="t"/>
          <a:lstStyle/>
          <a:p>
            <a:pPr marL="0" indent="0" algn="ctr">
              <a:buNone/>
            </a:pPr>
            <a:r>
              <a:rPr lang="en-US" sz="1100" dirty="0">
                <a:solidFill>
                  <a:srgbClr val="4A4870"/>
                </a:solidFill>
                <a:latin typeface="Calibri" pitchFamily="34" charset="0"/>
                <a:ea typeface="Calibri" pitchFamily="34" charset="-122"/>
                <a:cs typeface="Calibri" pitchFamily="34" charset="-120"/>
              </a:rPr>
              <a:t>Reconstruct LCS</a:t>
            </a:r>
            <a:endParaRPr lang="en-US" sz="1100" dirty="0"/>
          </a:p>
        </p:txBody>
      </p:sp>
      <p:sp>
        <p:nvSpPr>
          <p:cNvPr id="22" name="Shape 20"/>
          <p:cNvSpPr/>
          <p:nvPr/>
        </p:nvSpPr>
        <p:spPr>
          <a:xfrm>
            <a:off x="7296912" y="1755648"/>
            <a:ext cx="109728" cy="0"/>
          </a:xfrm>
          <a:prstGeom prst="line">
            <a:avLst/>
          </a:prstGeom>
          <a:noFill/>
          <a:ln w="15875">
            <a:solidFill>
              <a:srgbClr val="6B6890"/>
            </a:solidFill>
            <a:prstDash val="solid"/>
            <a:tailEnd type="triangle"/>
          </a:ln>
        </p:spPr>
      </p:sp>
      <p:sp>
        <p:nvSpPr>
          <p:cNvPr id="23" name="Shape 21"/>
          <p:cNvSpPr/>
          <p:nvPr/>
        </p:nvSpPr>
        <p:spPr>
          <a:xfrm>
            <a:off x="7406640" y="1188720"/>
            <a:ext cx="1280160" cy="1143000"/>
          </a:xfrm>
          <a:prstGeom prst="roundRect">
            <a:avLst>
              <a:gd name="adj" fmla="val 6400"/>
            </a:avLst>
          </a:prstGeom>
          <a:solidFill>
            <a:srgbClr val="86DCCB"/>
          </a:solidFill>
          <a:ln w="9525">
            <a:solidFill>
              <a:srgbClr val="86DCCB"/>
            </a:solidFill>
            <a:prstDash val="solid"/>
          </a:ln>
        </p:spPr>
      </p:sp>
      <p:sp>
        <p:nvSpPr>
          <p:cNvPr id="24" name="Text 22"/>
          <p:cNvSpPr txBox="1"/>
          <p:nvPr/>
        </p:nvSpPr>
        <p:spPr>
          <a:xfrm>
            <a:off x="7470648" y="1261872"/>
            <a:ext cx="1152144" cy="457200"/>
          </a:xfrm>
          <a:prstGeom prst="rect">
            <a:avLst/>
          </a:prstGeom>
          <a:noFill/>
          <a:ln/>
        </p:spPr>
        <p:txBody>
          <a:bodyPr wrap="square" lIns="0" tIns="0" rIns="0" bIns="0" rtlCol="0" anchor="ctr"/>
          <a:lstStyle/>
          <a:p>
            <a:pPr marL="0" indent="0" algn="ctr">
              <a:buNone/>
            </a:pPr>
            <a:r>
              <a:rPr lang="en-US" sz="1100" b="1" dirty="0">
                <a:solidFill>
                  <a:srgbClr val="2B2A4C"/>
                </a:solidFill>
                <a:latin typeface="Calibri" pitchFamily="34" charset="0"/>
                <a:ea typeface="Calibri" pitchFamily="34" charset="-122"/>
                <a:cs typeface="Calibri" pitchFamily="34" charset="-120"/>
              </a:rPr>
              <a:t>RESULTS</a:t>
            </a:r>
            <a:endParaRPr lang="en-US" sz="1100" dirty="0"/>
          </a:p>
        </p:txBody>
      </p:sp>
      <p:sp>
        <p:nvSpPr>
          <p:cNvPr id="25" name="Text 23"/>
          <p:cNvSpPr txBox="1"/>
          <p:nvPr/>
        </p:nvSpPr>
        <p:spPr>
          <a:xfrm>
            <a:off x="7470648" y="1737360"/>
            <a:ext cx="1152144" cy="548640"/>
          </a:xfrm>
          <a:prstGeom prst="rect">
            <a:avLst/>
          </a:prstGeom>
          <a:noFill/>
          <a:ln/>
        </p:spPr>
        <p:txBody>
          <a:bodyPr wrap="square" lIns="0" tIns="0" rIns="0" bIns="0" rtlCol="0" anchor="t"/>
          <a:lstStyle/>
          <a:p>
            <a:pPr marL="0" indent="0" algn="ctr">
              <a:buNone/>
            </a:pPr>
            <a:r>
              <a:rPr lang="en-US" sz="1100" dirty="0">
                <a:solidFill>
                  <a:srgbClr val="2B2A4C"/>
                </a:solidFill>
                <a:latin typeface="Calibri" pitchFamily="34" charset="0"/>
                <a:ea typeface="Calibri" pitchFamily="34" charset="-122"/>
                <a:cs typeface="Calibri" pitchFamily="34" charset="-120"/>
              </a:rPr>
              <a:t>LCS + Similarity + Coverage</a:t>
            </a:r>
            <a:endParaRPr lang="en-US" sz="1100" dirty="0"/>
          </a:p>
        </p:txBody>
      </p:sp>
      <p:sp>
        <p:nvSpPr>
          <p:cNvPr id="26" name="Text 24"/>
          <p:cNvSpPr txBox="1"/>
          <p:nvPr/>
        </p:nvSpPr>
        <p:spPr>
          <a:xfrm>
            <a:off x="457200" y="2560320"/>
            <a:ext cx="274320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USER JOURNEY</a:t>
            </a:r>
            <a:endParaRPr lang="en-US" sz="1100" dirty="0"/>
          </a:p>
        </p:txBody>
      </p:sp>
      <p:sp>
        <p:nvSpPr>
          <p:cNvPr id="27" name="Shape 25"/>
          <p:cNvSpPr/>
          <p:nvPr/>
        </p:nvSpPr>
        <p:spPr>
          <a:xfrm>
            <a:off x="457200" y="2834640"/>
            <a:ext cx="329184" cy="329184"/>
          </a:xfrm>
          <a:prstGeom prst="ellipse">
            <a:avLst/>
          </a:prstGeom>
          <a:solidFill>
            <a:srgbClr val="86DCCB"/>
          </a:solidFill>
          <a:ln w="12700">
            <a:solidFill>
              <a:srgbClr val="86DCCB"/>
            </a:solidFill>
            <a:prstDash val="solid"/>
          </a:ln>
        </p:spPr>
      </p:sp>
      <p:sp>
        <p:nvSpPr>
          <p:cNvPr id="28" name="Text 26"/>
          <p:cNvSpPr txBox="1"/>
          <p:nvPr/>
        </p:nvSpPr>
        <p:spPr>
          <a:xfrm>
            <a:off x="457200" y="2834640"/>
            <a:ext cx="329184" cy="329184"/>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1</a:t>
            </a:r>
            <a:endParaRPr lang="en-US" sz="1300" dirty="0"/>
          </a:p>
        </p:txBody>
      </p:sp>
      <p:sp>
        <p:nvSpPr>
          <p:cNvPr id="29" name="Text 27"/>
          <p:cNvSpPr txBox="1"/>
          <p:nvPr/>
        </p:nvSpPr>
        <p:spPr>
          <a:xfrm>
            <a:off x="859536" y="2788920"/>
            <a:ext cx="868680" cy="566928"/>
          </a:xfrm>
          <a:prstGeom prst="rect">
            <a:avLst/>
          </a:prstGeom>
          <a:noFill/>
          <a:ln/>
        </p:spPr>
        <p:txBody>
          <a:bodyPr wrap="square" lIns="0" tIns="0" rIns="0" bIns="0" rtlCol="0" anchor="t"/>
          <a:lstStyle/>
          <a:p>
            <a:pPr marL="0" indent="0">
              <a:buNone/>
            </a:pPr>
            <a:r>
              <a:rPr lang="en-US" sz="1100" dirty="0">
                <a:solidFill>
                  <a:srgbClr val="4A4870"/>
                </a:solidFill>
                <a:latin typeface="Calibri" pitchFamily="34" charset="0"/>
                <a:ea typeface="Calibri" pitchFamily="34" charset="-122"/>
                <a:cs typeface="Calibri" pitchFamily="34" charset="-120"/>
              </a:rPr>
              <a:t>Enter DNA sequences</a:t>
            </a:r>
            <a:endParaRPr lang="en-US" sz="1100" dirty="0"/>
          </a:p>
        </p:txBody>
      </p:sp>
      <p:sp>
        <p:nvSpPr>
          <p:cNvPr id="30" name="Shape 28"/>
          <p:cNvSpPr/>
          <p:nvPr/>
        </p:nvSpPr>
        <p:spPr>
          <a:xfrm>
            <a:off x="1847088" y="2834640"/>
            <a:ext cx="329184" cy="329184"/>
          </a:xfrm>
          <a:prstGeom prst="ellipse">
            <a:avLst/>
          </a:prstGeom>
          <a:solidFill>
            <a:srgbClr val="BBA6F5"/>
          </a:solidFill>
          <a:ln w="12700">
            <a:solidFill>
              <a:srgbClr val="BBA6F5"/>
            </a:solidFill>
            <a:prstDash val="solid"/>
          </a:ln>
        </p:spPr>
      </p:sp>
      <p:sp>
        <p:nvSpPr>
          <p:cNvPr id="31" name="Text 29"/>
          <p:cNvSpPr txBox="1"/>
          <p:nvPr/>
        </p:nvSpPr>
        <p:spPr>
          <a:xfrm>
            <a:off x="1847088" y="2834640"/>
            <a:ext cx="329184" cy="329184"/>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2</a:t>
            </a:r>
            <a:endParaRPr lang="en-US" sz="1300" dirty="0"/>
          </a:p>
        </p:txBody>
      </p:sp>
      <p:sp>
        <p:nvSpPr>
          <p:cNvPr id="32" name="Text 30"/>
          <p:cNvSpPr txBox="1"/>
          <p:nvPr/>
        </p:nvSpPr>
        <p:spPr>
          <a:xfrm>
            <a:off x="2249424" y="2788920"/>
            <a:ext cx="868680" cy="566928"/>
          </a:xfrm>
          <a:prstGeom prst="rect">
            <a:avLst/>
          </a:prstGeom>
          <a:noFill/>
          <a:ln/>
        </p:spPr>
        <p:txBody>
          <a:bodyPr wrap="square" lIns="0" tIns="0" rIns="0" bIns="0" rtlCol="0" anchor="t"/>
          <a:lstStyle/>
          <a:p>
            <a:pPr marL="0" indent="0">
              <a:buNone/>
            </a:pPr>
            <a:r>
              <a:rPr lang="en-US" sz="1100" dirty="0">
                <a:solidFill>
                  <a:srgbClr val="4A4870"/>
                </a:solidFill>
                <a:latin typeface="Calibri" pitchFamily="34" charset="0"/>
                <a:ea typeface="Calibri" pitchFamily="34" charset="-122"/>
                <a:cs typeface="Calibri" pitchFamily="34" charset="-120"/>
              </a:rPr>
              <a:t>Run comparison</a:t>
            </a:r>
            <a:endParaRPr lang="en-US" sz="1100" dirty="0"/>
          </a:p>
        </p:txBody>
      </p:sp>
      <p:sp>
        <p:nvSpPr>
          <p:cNvPr id="33" name="Shape 31"/>
          <p:cNvSpPr/>
          <p:nvPr/>
        </p:nvSpPr>
        <p:spPr>
          <a:xfrm>
            <a:off x="3236976" y="2834640"/>
            <a:ext cx="329184" cy="329184"/>
          </a:xfrm>
          <a:prstGeom prst="ellipse">
            <a:avLst/>
          </a:prstGeom>
          <a:solidFill>
            <a:srgbClr val="86DCCB"/>
          </a:solidFill>
          <a:ln w="12700">
            <a:solidFill>
              <a:srgbClr val="86DCCB"/>
            </a:solidFill>
            <a:prstDash val="solid"/>
          </a:ln>
        </p:spPr>
      </p:sp>
      <p:sp>
        <p:nvSpPr>
          <p:cNvPr id="34" name="Text 32"/>
          <p:cNvSpPr txBox="1"/>
          <p:nvPr/>
        </p:nvSpPr>
        <p:spPr>
          <a:xfrm>
            <a:off x="3236976" y="2834640"/>
            <a:ext cx="329184" cy="329184"/>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3</a:t>
            </a:r>
            <a:endParaRPr lang="en-US" sz="1300" dirty="0"/>
          </a:p>
        </p:txBody>
      </p:sp>
      <p:sp>
        <p:nvSpPr>
          <p:cNvPr id="35" name="Text 33"/>
          <p:cNvSpPr txBox="1"/>
          <p:nvPr/>
        </p:nvSpPr>
        <p:spPr>
          <a:xfrm>
            <a:off x="3639312" y="2788920"/>
            <a:ext cx="868680" cy="566928"/>
          </a:xfrm>
          <a:prstGeom prst="rect">
            <a:avLst/>
          </a:prstGeom>
          <a:noFill/>
          <a:ln/>
        </p:spPr>
        <p:txBody>
          <a:bodyPr wrap="square" lIns="0" tIns="0" rIns="0" bIns="0" rtlCol="0" anchor="t"/>
          <a:lstStyle/>
          <a:p>
            <a:pPr marL="0" indent="0">
              <a:buNone/>
            </a:pPr>
            <a:r>
              <a:rPr lang="en-US" sz="1100" dirty="0">
                <a:solidFill>
                  <a:srgbClr val="4A4870"/>
                </a:solidFill>
                <a:latin typeface="Calibri" pitchFamily="34" charset="0"/>
                <a:ea typeface="Calibri" pitchFamily="34" charset="-122"/>
                <a:cs typeface="Calibri" pitchFamily="34" charset="-120"/>
              </a:rPr>
              <a:t>Watch DP table build</a:t>
            </a:r>
            <a:endParaRPr lang="en-US" sz="1100" dirty="0"/>
          </a:p>
        </p:txBody>
      </p:sp>
      <p:sp>
        <p:nvSpPr>
          <p:cNvPr id="36" name="Shape 34"/>
          <p:cNvSpPr/>
          <p:nvPr/>
        </p:nvSpPr>
        <p:spPr>
          <a:xfrm>
            <a:off x="4626864" y="2834640"/>
            <a:ext cx="329184" cy="329184"/>
          </a:xfrm>
          <a:prstGeom prst="ellipse">
            <a:avLst/>
          </a:prstGeom>
          <a:solidFill>
            <a:srgbClr val="BBA6F5"/>
          </a:solidFill>
          <a:ln w="12700">
            <a:solidFill>
              <a:srgbClr val="BBA6F5"/>
            </a:solidFill>
            <a:prstDash val="solid"/>
          </a:ln>
        </p:spPr>
      </p:sp>
      <p:sp>
        <p:nvSpPr>
          <p:cNvPr id="37" name="Text 35"/>
          <p:cNvSpPr txBox="1"/>
          <p:nvPr/>
        </p:nvSpPr>
        <p:spPr>
          <a:xfrm>
            <a:off x="4626864" y="2834640"/>
            <a:ext cx="329184" cy="329184"/>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4</a:t>
            </a:r>
            <a:endParaRPr lang="en-US" sz="1300" dirty="0"/>
          </a:p>
        </p:txBody>
      </p:sp>
      <p:sp>
        <p:nvSpPr>
          <p:cNvPr id="38" name="Text 36"/>
          <p:cNvSpPr txBox="1"/>
          <p:nvPr/>
        </p:nvSpPr>
        <p:spPr>
          <a:xfrm>
            <a:off x="5029200" y="2788920"/>
            <a:ext cx="868680" cy="566928"/>
          </a:xfrm>
          <a:prstGeom prst="rect">
            <a:avLst/>
          </a:prstGeom>
          <a:noFill/>
          <a:ln/>
        </p:spPr>
        <p:txBody>
          <a:bodyPr wrap="square" lIns="0" tIns="0" rIns="0" bIns="0" rtlCol="0" anchor="t"/>
          <a:lstStyle/>
          <a:p>
            <a:pPr marL="0" indent="0">
              <a:buNone/>
            </a:pPr>
            <a:r>
              <a:rPr lang="en-US" sz="1100" dirty="0">
                <a:solidFill>
                  <a:srgbClr val="4A4870"/>
                </a:solidFill>
                <a:latin typeface="Calibri" pitchFamily="34" charset="0"/>
                <a:ea typeface="Calibri" pitchFamily="34" charset="-122"/>
                <a:cs typeface="Calibri" pitchFamily="34" charset="-120"/>
              </a:rPr>
              <a:t>Follow traceback</a:t>
            </a:r>
            <a:endParaRPr lang="en-US" sz="1100" dirty="0"/>
          </a:p>
        </p:txBody>
      </p:sp>
      <p:sp>
        <p:nvSpPr>
          <p:cNvPr id="39" name="Shape 37"/>
          <p:cNvSpPr/>
          <p:nvPr/>
        </p:nvSpPr>
        <p:spPr>
          <a:xfrm>
            <a:off x="6016752" y="2834640"/>
            <a:ext cx="329184" cy="329184"/>
          </a:xfrm>
          <a:prstGeom prst="ellipse">
            <a:avLst/>
          </a:prstGeom>
          <a:solidFill>
            <a:srgbClr val="86DCCB"/>
          </a:solidFill>
          <a:ln w="12700">
            <a:solidFill>
              <a:srgbClr val="86DCCB"/>
            </a:solidFill>
            <a:prstDash val="solid"/>
          </a:ln>
        </p:spPr>
      </p:sp>
      <p:sp>
        <p:nvSpPr>
          <p:cNvPr id="40" name="Text 38"/>
          <p:cNvSpPr txBox="1"/>
          <p:nvPr/>
        </p:nvSpPr>
        <p:spPr>
          <a:xfrm>
            <a:off x="6016752" y="2834640"/>
            <a:ext cx="329184" cy="329184"/>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5</a:t>
            </a:r>
            <a:endParaRPr lang="en-US" sz="1300" dirty="0"/>
          </a:p>
        </p:txBody>
      </p:sp>
      <p:sp>
        <p:nvSpPr>
          <p:cNvPr id="41" name="Text 39"/>
          <p:cNvSpPr txBox="1"/>
          <p:nvPr/>
        </p:nvSpPr>
        <p:spPr>
          <a:xfrm>
            <a:off x="6419088" y="2788920"/>
            <a:ext cx="868680" cy="566928"/>
          </a:xfrm>
          <a:prstGeom prst="rect">
            <a:avLst/>
          </a:prstGeom>
          <a:noFill/>
          <a:ln/>
        </p:spPr>
        <p:txBody>
          <a:bodyPr wrap="square" lIns="0" tIns="0" rIns="0" bIns="0" rtlCol="0" anchor="t"/>
          <a:lstStyle/>
          <a:p>
            <a:pPr marL="0" indent="0">
              <a:buNone/>
            </a:pPr>
            <a:r>
              <a:rPr lang="en-US" sz="1100" dirty="0">
                <a:solidFill>
                  <a:srgbClr val="4A4870"/>
                </a:solidFill>
                <a:latin typeface="Calibri" pitchFamily="34" charset="0"/>
                <a:ea typeface="Calibri" pitchFamily="34" charset="-122"/>
                <a:cs typeface="Calibri" pitchFamily="34" charset="-120"/>
              </a:rPr>
              <a:t>View common sequence</a:t>
            </a:r>
            <a:endParaRPr lang="en-US" sz="1100" dirty="0"/>
          </a:p>
        </p:txBody>
      </p:sp>
      <p:sp>
        <p:nvSpPr>
          <p:cNvPr id="42" name="Shape 40"/>
          <p:cNvSpPr/>
          <p:nvPr/>
        </p:nvSpPr>
        <p:spPr>
          <a:xfrm>
            <a:off x="7406640" y="2834640"/>
            <a:ext cx="329184" cy="329184"/>
          </a:xfrm>
          <a:prstGeom prst="ellipse">
            <a:avLst/>
          </a:prstGeom>
          <a:solidFill>
            <a:srgbClr val="BBA6F5"/>
          </a:solidFill>
          <a:ln w="12700">
            <a:solidFill>
              <a:srgbClr val="BBA6F5"/>
            </a:solidFill>
            <a:prstDash val="solid"/>
          </a:ln>
        </p:spPr>
      </p:sp>
      <p:sp>
        <p:nvSpPr>
          <p:cNvPr id="43" name="Text 41"/>
          <p:cNvSpPr txBox="1"/>
          <p:nvPr/>
        </p:nvSpPr>
        <p:spPr>
          <a:xfrm>
            <a:off x="7406640" y="2834640"/>
            <a:ext cx="329184" cy="329184"/>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6</a:t>
            </a:r>
            <a:endParaRPr lang="en-US" sz="1300" dirty="0"/>
          </a:p>
        </p:txBody>
      </p:sp>
      <p:sp>
        <p:nvSpPr>
          <p:cNvPr id="44" name="Text 42"/>
          <p:cNvSpPr txBox="1"/>
          <p:nvPr/>
        </p:nvSpPr>
        <p:spPr>
          <a:xfrm>
            <a:off x="7808976" y="2788920"/>
            <a:ext cx="868680" cy="566928"/>
          </a:xfrm>
          <a:prstGeom prst="rect">
            <a:avLst/>
          </a:prstGeom>
          <a:noFill/>
          <a:ln/>
        </p:spPr>
        <p:txBody>
          <a:bodyPr wrap="square" lIns="0" tIns="0" rIns="0" bIns="0" rtlCol="0" anchor="t"/>
          <a:lstStyle/>
          <a:p>
            <a:pPr marL="0" indent="0">
              <a:buNone/>
            </a:pPr>
            <a:r>
              <a:rPr lang="en-US" sz="1100" dirty="0">
                <a:solidFill>
                  <a:srgbClr val="4A4870"/>
                </a:solidFill>
                <a:latin typeface="Calibri" pitchFamily="34" charset="0"/>
                <a:ea typeface="Calibri" pitchFamily="34" charset="-122"/>
                <a:cs typeface="Calibri" pitchFamily="34" charset="-120"/>
              </a:rPr>
              <a:t>Explore similarity &amp; alignment</a:t>
            </a:r>
            <a:endParaRPr lang="en-US" sz="1100" dirty="0"/>
          </a:p>
        </p:txBody>
      </p:sp>
      <p:sp>
        <p:nvSpPr>
          <p:cNvPr id="45" name="Shape 43"/>
          <p:cNvSpPr/>
          <p:nvPr/>
        </p:nvSpPr>
        <p:spPr>
          <a:xfrm>
            <a:off x="457200" y="3520440"/>
            <a:ext cx="8229600" cy="1188720"/>
          </a:xfrm>
          <a:prstGeom prst="roundRect">
            <a:avLst>
              <a:gd name="adj" fmla="val 6154"/>
            </a:avLst>
          </a:prstGeom>
          <a:solidFill>
            <a:srgbClr val="FFFFFF"/>
          </a:solidFill>
          <a:ln w="9525">
            <a:solidFill>
              <a:srgbClr val="D9D0F2"/>
            </a:solidFill>
            <a:prstDash val="solid"/>
          </a:ln>
        </p:spPr>
      </p:sp>
      <p:sp>
        <p:nvSpPr>
          <p:cNvPr id="46" name="Text 44"/>
          <p:cNvSpPr txBox="1"/>
          <p:nvPr/>
        </p:nvSpPr>
        <p:spPr>
          <a:xfrm>
            <a:off x="640080" y="3630168"/>
            <a:ext cx="1097280" cy="347472"/>
          </a:xfrm>
          <a:prstGeom prst="rect">
            <a:avLst/>
          </a:prstGeom>
          <a:noFill/>
          <a:ln/>
        </p:spPr>
        <p:txBody>
          <a:bodyPr wrap="square" lIns="0" tIns="0" rIns="0" bIns="0" rtlCol="0" anchor="ctr"/>
          <a:lstStyle/>
          <a:p>
            <a:pPr marL="0" indent="0">
              <a:buNone/>
            </a:pPr>
            <a:r>
              <a:rPr lang="en-US" sz="1200" dirty="0">
                <a:solidFill>
                  <a:srgbClr val="6B6890"/>
                </a:solidFill>
                <a:latin typeface="Calibri" pitchFamily="34" charset="0"/>
                <a:ea typeface="Calibri" pitchFamily="34" charset="-122"/>
                <a:cs typeface="Calibri" pitchFamily="34" charset="-120"/>
              </a:rPr>
              <a:t>Sequence A</a:t>
            </a:r>
            <a:endParaRPr lang="en-US" sz="1200" dirty="0"/>
          </a:p>
        </p:txBody>
      </p:sp>
      <p:sp>
        <p:nvSpPr>
          <p:cNvPr id="47" name="Text 45"/>
          <p:cNvSpPr txBox="1"/>
          <p:nvPr/>
        </p:nvSpPr>
        <p:spPr>
          <a:xfrm>
            <a:off x="640080" y="4270248"/>
            <a:ext cx="1097280" cy="347472"/>
          </a:xfrm>
          <a:prstGeom prst="rect">
            <a:avLst/>
          </a:prstGeom>
          <a:noFill/>
          <a:ln/>
        </p:spPr>
        <p:txBody>
          <a:bodyPr wrap="square" lIns="0" tIns="0" rIns="0" bIns="0" rtlCol="0" anchor="ctr"/>
          <a:lstStyle/>
          <a:p>
            <a:pPr marL="0" indent="0">
              <a:buNone/>
            </a:pPr>
            <a:r>
              <a:rPr lang="en-US" sz="1200" dirty="0">
                <a:solidFill>
                  <a:srgbClr val="6B6890"/>
                </a:solidFill>
                <a:latin typeface="Calibri" pitchFamily="34" charset="0"/>
                <a:ea typeface="Calibri" pitchFamily="34" charset="-122"/>
                <a:cs typeface="Calibri" pitchFamily="34" charset="-120"/>
              </a:rPr>
              <a:t>Sequence B</a:t>
            </a:r>
            <a:endParaRPr lang="en-US" sz="1200" dirty="0"/>
          </a:p>
        </p:txBody>
      </p:sp>
      <p:sp>
        <p:nvSpPr>
          <p:cNvPr id="48" name="Shape 46"/>
          <p:cNvSpPr/>
          <p:nvPr/>
        </p:nvSpPr>
        <p:spPr>
          <a:xfrm>
            <a:off x="1828800" y="3630168"/>
            <a:ext cx="347472" cy="347472"/>
          </a:xfrm>
          <a:prstGeom prst="roundRect">
            <a:avLst>
              <a:gd name="adj" fmla="val 15789"/>
            </a:avLst>
          </a:prstGeom>
          <a:solidFill>
            <a:srgbClr val="86DCCB"/>
          </a:solidFill>
          <a:ln w="9525">
            <a:solidFill>
              <a:srgbClr val="86DCCB"/>
            </a:solidFill>
            <a:prstDash val="solid"/>
          </a:ln>
        </p:spPr>
      </p:sp>
      <p:sp>
        <p:nvSpPr>
          <p:cNvPr id="49" name="Text 47"/>
          <p:cNvSpPr txBox="1"/>
          <p:nvPr/>
        </p:nvSpPr>
        <p:spPr>
          <a:xfrm>
            <a:off x="1828800" y="363016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A</a:t>
            </a:r>
            <a:endParaRPr lang="en-US" sz="1400" dirty="0"/>
          </a:p>
        </p:txBody>
      </p:sp>
      <p:sp>
        <p:nvSpPr>
          <p:cNvPr id="50" name="Shape 48"/>
          <p:cNvSpPr/>
          <p:nvPr/>
        </p:nvSpPr>
        <p:spPr>
          <a:xfrm>
            <a:off x="2286000" y="3630168"/>
            <a:ext cx="347472" cy="347472"/>
          </a:xfrm>
          <a:prstGeom prst="roundRect">
            <a:avLst>
              <a:gd name="adj" fmla="val 15789"/>
            </a:avLst>
          </a:prstGeom>
          <a:solidFill>
            <a:srgbClr val="86DCCB"/>
          </a:solidFill>
          <a:ln w="9525">
            <a:solidFill>
              <a:srgbClr val="86DCCB"/>
            </a:solidFill>
            <a:prstDash val="solid"/>
          </a:ln>
        </p:spPr>
      </p:sp>
      <p:sp>
        <p:nvSpPr>
          <p:cNvPr id="51" name="Text 49"/>
          <p:cNvSpPr txBox="1"/>
          <p:nvPr/>
        </p:nvSpPr>
        <p:spPr>
          <a:xfrm>
            <a:off x="2286000" y="363016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C</a:t>
            </a:r>
            <a:endParaRPr lang="en-US" sz="1400" dirty="0"/>
          </a:p>
        </p:txBody>
      </p:sp>
      <p:sp>
        <p:nvSpPr>
          <p:cNvPr id="52" name="Shape 50"/>
          <p:cNvSpPr/>
          <p:nvPr/>
        </p:nvSpPr>
        <p:spPr>
          <a:xfrm>
            <a:off x="2743200" y="3630168"/>
            <a:ext cx="347472" cy="347472"/>
          </a:xfrm>
          <a:prstGeom prst="roundRect">
            <a:avLst>
              <a:gd name="adj" fmla="val 15789"/>
            </a:avLst>
          </a:prstGeom>
          <a:solidFill>
            <a:srgbClr val="EAE4FB"/>
          </a:solidFill>
          <a:ln w="9525">
            <a:solidFill>
              <a:srgbClr val="D9D0F2"/>
            </a:solidFill>
            <a:prstDash val="solid"/>
          </a:ln>
        </p:spPr>
      </p:sp>
      <p:sp>
        <p:nvSpPr>
          <p:cNvPr id="53" name="Text 51"/>
          <p:cNvSpPr txBox="1"/>
          <p:nvPr/>
        </p:nvSpPr>
        <p:spPr>
          <a:xfrm>
            <a:off x="2743200" y="3630168"/>
            <a:ext cx="347472" cy="347472"/>
          </a:xfrm>
          <a:prstGeom prst="rect">
            <a:avLst/>
          </a:prstGeom>
          <a:noFill/>
          <a:ln/>
        </p:spPr>
        <p:txBody>
          <a:bodyPr wrap="square" lIns="0" tIns="0" rIns="0" bIns="0" rtlCol="0" anchor="ctr"/>
          <a:lstStyle/>
          <a:p>
            <a:pPr marL="0" indent="0" algn="ctr">
              <a:buNone/>
            </a:pPr>
            <a:r>
              <a:rPr lang="en-US" sz="1400" b="1" dirty="0">
                <a:solidFill>
                  <a:srgbClr val="6B6890"/>
                </a:solidFill>
                <a:latin typeface="Calibri" pitchFamily="34" charset="0"/>
                <a:ea typeface="Calibri" pitchFamily="34" charset="-122"/>
                <a:cs typeface="Calibri" pitchFamily="34" charset="-120"/>
              </a:rPr>
              <a:t>G</a:t>
            </a:r>
            <a:endParaRPr lang="en-US" sz="1400" dirty="0"/>
          </a:p>
        </p:txBody>
      </p:sp>
      <p:sp>
        <p:nvSpPr>
          <p:cNvPr id="54" name="Shape 52"/>
          <p:cNvSpPr/>
          <p:nvPr/>
        </p:nvSpPr>
        <p:spPr>
          <a:xfrm>
            <a:off x="3200400" y="3630168"/>
            <a:ext cx="347472" cy="347472"/>
          </a:xfrm>
          <a:prstGeom prst="roundRect">
            <a:avLst>
              <a:gd name="adj" fmla="val 15789"/>
            </a:avLst>
          </a:prstGeom>
          <a:solidFill>
            <a:srgbClr val="86DCCB"/>
          </a:solidFill>
          <a:ln w="9525">
            <a:solidFill>
              <a:srgbClr val="86DCCB"/>
            </a:solidFill>
            <a:prstDash val="solid"/>
          </a:ln>
        </p:spPr>
      </p:sp>
      <p:sp>
        <p:nvSpPr>
          <p:cNvPr id="55" name="Text 53"/>
          <p:cNvSpPr txBox="1"/>
          <p:nvPr/>
        </p:nvSpPr>
        <p:spPr>
          <a:xfrm>
            <a:off x="3200400" y="363016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T</a:t>
            </a:r>
            <a:endParaRPr lang="en-US" sz="1400" dirty="0"/>
          </a:p>
        </p:txBody>
      </p:sp>
      <p:sp>
        <p:nvSpPr>
          <p:cNvPr id="56" name="Shape 54"/>
          <p:cNvSpPr/>
          <p:nvPr/>
        </p:nvSpPr>
        <p:spPr>
          <a:xfrm>
            <a:off x="3657600" y="3630168"/>
            <a:ext cx="347472" cy="347472"/>
          </a:xfrm>
          <a:prstGeom prst="roundRect">
            <a:avLst>
              <a:gd name="adj" fmla="val 15789"/>
            </a:avLst>
          </a:prstGeom>
          <a:solidFill>
            <a:srgbClr val="86DCCB"/>
          </a:solidFill>
          <a:ln w="9525">
            <a:solidFill>
              <a:srgbClr val="86DCCB"/>
            </a:solidFill>
            <a:prstDash val="solid"/>
          </a:ln>
        </p:spPr>
      </p:sp>
      <p:sp>
        <p:nvSpPr>
          <p:cNvPr id="57" name="Text 55"/>
          <p:cNvSpPr txBox="1"/>
          <p:nvPr/>
        </p:nvSpPr>
        <p:spPr>
          <a:xfrm>
            <a:off x="3657600" y="363016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A</a:t>
            </a:r>
            <a:endParaRPr lang="en-US" sz="1400" dirty="0"/>
          </a:p>
        </p:txBody>
      </p:sp>
      <p:sp>
        <p:nvSpPr>
          <p:cNvPr id="58" name="Shape 56"/>
          <p:cNvSpPr/>
          <p:nvPr/>
        </p:nvSpPr>
        <p:spPr>
          <a:xfrm>
            <a:off x="4114800" y="3630168"/>
            <a:ext cx="347472" cy="347472"/>
          </a:xfrm>
          <a:prstGeom prst="roundRect">
            <a:avLst>
              <a:gd name="adj" fmla="val 15789"/>
            </a:avLst>
          </a:prstGeom>
          <a:solidFill>
            <a:srgbClr val="86DCCB"/>
          </a:solidFill>
          <a:ln w="9525">
            <a:solidFill>
              <a:srgbClr val="86DCCB"/>
            </a:solidFill>
            <a:prstDash val="solid"/>
          </a:ln>
        </p:spPr>
      </p:sp>
      <p:sp>
        <p:nvSpPr>
          <p:cNvPr id="59" name="Text 57"/>
          <p:cNvSpPr txBox="1"/>
          <p:nvPr/>
        </p:nvSpPr>
        <p:spPr>
          <a:xfrm>
            <a:off x="4114800" y="363016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C</a:t>
            </a:r>
            <a:endParaRPr lang="en-US" sz="1400" dirty="0"/>
          </a:p>
        </p:txBody>
      </p:sp>
      <p:sp>
        <p:nvSpPr>
          <p:cNvPr id="60" name="Shape 58"/>
          <p:cNvSpPr/>
          <p:nvPr/>
        </p:nvSpPr>
        <p:spPr>
          <a:xfrm>
            <a:off x="1828800" y="4270248"/>
            <a:ext cx="347472" cy="347472"/>
          </a:xfrm>
          <a:prstGeom prst="roundRect">
            <a:avLst>
              <a:gd name="adj" fmla="val 15789"/>
            </a:avLst>
          </a:prstGeom>
          <a:solidFill>
            <a:srgbClr val="86DCCB"/>
          </a:solidFill>
          <a:ln w="9525">
            <a:solidFill>
              <a:srgbClr val="86DCCB"/>
            </a:solidFill>
            <a:prstDash val="solid"/>
          </a:ln>
        </p:spPr>
      </p:sp>
      <p:sp>
        <p:nvSpPr>
          <p:cNvPr id="61" name="Text 59"/>
          <p:cNvSpPr txBox="1"/>
          <p:nvPr/>
        </p:nvSpPr>
        <p:spPr>
          <a:xfrm>
            <a:off x="1828800" y="427024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A</a:t>
            </a:r>
            <a:endParaRPr lang="en-US" sz="1400" dirty="0"/>
          </a:p>
        </p:txBody>
      </p:sp>
      <p:sp>
        <p:nvSpPr>
          <p:cNvPr id="62" name="Shape 60"/>
          <p:cNvSpPr/>
          <p:nvPr/>
        </p:nvSpPr>
        <p:spPr>
          <a:xfrm>
            <a:off x="2286000" y="4270248"/>
            <a:ext cx="347472" cy="347472"/>
          </a:xfrm>
          <a:prstGeom prst="roundRect">
            <a:avLst>
              <a:gd name="adj" fmla="val 15789"/>
            </a:avLst>
          </a:prstGeom>
          <a:solidFill>
            <a:srgbClr val="86DCCB"/>
          </a:solidFill>
          <a:ln w="9525">
            <a:solidFill>
              <a:srgbClr val="86DCCB"/>
            </a:solidFill>
            <a:prstDash val="solid"/>
          </a:ln>
        </p:spPr>
      </p:sp>
      <p:sp>
        <p:nvSpPr>
          <p:cNvPr id="63" name="Text 61"/>
          <p:cNvSpPr txBox="1"/>
          <p:nvPr/>
        </p:nvSpPr>
        <p:spPr>
          <a:xfrm>
            <a:off x="2286000" y="427024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C</a:t>
            </a:r>
            <a:endParaRPr lang="en-US" sz="1400" dirty="0"/>
          </a:p>
        </p:txBody>
      </p:sp>
      <p:sp>
        <p:nvSpPr>
          <p:cNvPr id="64" name="Shape 62"/>
          <p:cNvSpPr/>
          <p:nvPr/>
        </p:nvSpPr>
        <p:spPr>
          <a:xfrm>
            <a:off x="2743200" y="4270248"/>
            <a:ext cx="347472" cy="347472"/>
          </a:xfrm>
          <a:prstGeom prst="roundRect">
            <a:avLst>
              <a:gd name="adj" fmla="val 15789"/>
            </a:avLst>
          </a:prstGeom>
          <a:solidFill>
            <a:srgbClr val="86DCCB"/>
          </a:solidFill>
          <a:ln w="9525">
            <a:solidFill>
              <a:srgbClr val="86DCCB"/>
            </a:solidFill>
            <a:prstDash val="solid"/>
          </a:ln>
        </p:spPr>
      </p:sp>
      <p:sp>
        <p:nvSpPr>
          <p:cNvPr id="65" name="Text 63"/>
          <p:cNvSpPr txBox="1"/>
          <p:nvPr/>
        </p:nvSpPr>
        <p:spPr>
          <a:xfrm>
            <a:off x="2743200" y="427024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T</a:t>
            </a:r>
            <a:endParaRPr lang="en-US" sz="1400" dirty="0"/>
          </a:p>
        </p:txBody>
      </p:sp>
      <p:sp>
        <p:nvSpPr>
          <p:cNvPr id="66" name="Shape 64"/>
          <p:cNvSpPr/>
          <p:nvPr/>
        </p:nvSpPr>
        <p:spPr>
          <a:xfrm>
            <a:off x="3200400" y="4270248"/>
            <a:ext cx="347472" cy="347472"/>
          </a:xfrm>
          <a:prstGeom prst="roundRect">
            <a:avLst>
              <a:gd name="adj" fmla="val 15789"/>
            </a:avLst>
          </a:prstGeom>
          <a:solidFill>
            <a:srgbClr val="86DCCB"/>
          </a:solidFill>
          <a:ln w="9525">
            <a:solidFill>
              <a:srgbClr val="86DCCB"/>
            </a:solidFill>
            <a:prstDash val="solid"/>
          </a:ln>
        </p:spPr>
      </p:sp>
      <p:sp>
        <p:nvSpPr>
          <p:cNvPr id="67" name="Text 65"/>
          <p:cNvSpPr txBox="1"/>
          <p:nvPr/>
        </p:nvSpPr>
        <p:spPr>
          <a:xfrm>
            <a:off x="3200400" y="427024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A</a:t>
            </a:r>
            <a:endParaRPr lang="en-US" sz="1400" dirty="0"/>
          </a:p>
        </p:txBody>
      </p:sp>
      <p:sp>
        <p:nvSpPr>
          <p:cNvPr id="68" name="Shape 66"/>
          <p:cNvSpPr/>
          <p:nvPr/>
        </p:nvSpPr>
        <p:spPr>
          <a:xfrm>
            <a:off x="3657600" y="4270248"/>
            <a:ext cx="347472" cy="347472"/>
          </a:xfrm>
          <a:prstGeom prst="roundRect">
            <a:avLst>
              <a:gd name="adj" fmla="val 15789"/>
            </a:avLst>
          </a:prstGeom>
          <a:solidFill>
            <a:srgbClr val="86DCCB"/>
          </a:solidFill>
          <a:ln w="9525">
            <a:solidFill>
              <a:srgbClr val="86DCCB"/>
            </a:solidFill>
            <a:prstDash val="solid"/>
          </a:ln>
        </p:spPr>
      </p:sp>
      <p:sp>
        <p:nvSpPr>
          <p:cNvPr id="69" name="Text 67"/>
          <p:cNvSpPr txBox="1"/>
          <p:nvPr/>
        </p:nvSpPr>
        <p:spPr>
          <a:xfrm>
            <a:off x="3657600" y="4270248"/>
            <a:ext cx="347472" cy="347472"/>
          </a:xfrm>
          <a:prstGeom prst="rect">
            <a:avLst/>
          </a:prstGeom>
          <a:noFill/>
          <a:ln/>
        </p:spPr>
        <p:txBody>
          <a:bodyPr wrap="square" lIns="0" tIns="0" rIns="0" bIns="0" rtlCol="0" anchor="ctr"/>
          <a:lstStyle/>
          <a:p>
            <a:pPr marL="0" indent="0" algn="ctr">
              <a:buNone/>
            </a:pPr>
            <a:r>
              <a:rPr lang="en-US" sz="1400" b="1" dirty="0">
                <a:solidFill>
                  <a:srgbClr val="2B2A4C"/>
                </a:solidFill>
                <a:latin typeface="Calibri" pitchFamily="34" charset="0"/>
                <a:ea typeface="Calibri" pitchFamily="34" charset="-122"/>
                <a:cs typeface="Calibri" pitchFamily="34" charset="-120"/>
              </a:rPr>
              <a:t>C</a:t>
            </a:r>
            <a:endParaRPr lang="en-US" sz="1400" dirty="0"/>
          </a:p>
        </p:txBody>
      </p:sp>
      <p:sp>
        <p:nvSpPr>
          <p:cNvPr id="70" name="Shape 68"/>
          <p:cNvSpPr/>
          <p:nvPr/>
        </p:nvSpPr>
        <p:spPr>
          <a:xfrm>
            <a:off x="2002536" y="3977640"/>
            <a:ext cx="0" cy="292608"/>
          </a:xfrm>
          <a:prstGeom prst="line">
            <a:avLst/>
          </a:prstGeom>
          <a:noFill/>
          <a:ln w="15875">
            <a:solidFill>
              <a:srgbClr val="BBA6F5"/>
            </a:solidFill>
            <a:prstDash val="solid"/>
          </a:ln>
        </p:spPr>
      </p:sp>
      <p:sp>
        <p:nvSpPr>
          <p:cNvPr id="71" name="Shape 69"/>
          <p:cNvSpPr/>
          <p:nvPr/>
        </p:nvSpPr>
        <p:spPr>
          <a:xfrm>
            <a:off x="2459736" y="3977640"/>
            <a:ext cx="0" cy="292608"/>
          </a:xfrm>
          <a:prstGeom prst="line">
            <a:avLst/>
          </a:prstGeom>
          <a:noFill/>
          <a:ln w="15875">
            <a:solidFill>
              <a:srgbClr val="BBA6F5"/>
            </a:solidFill>
            <a:prstDash val="solid"/>
          </a:ln>
        </p:spPr>
      </p:sp>
      <p:sp>
        <p:nvSpPr>
          <p:cNvPr id="72" name="Shape 70"/>
          <p:cNvSpPr/>
          <p:nvPr/>
        </p:nvSpPr>
        <p:spPr>
          <a:xfrm flipV="1">
            <a:off x="2916936" y="3977640"/>
            <a:ext cx="457200" cy="292608"/>
          </a:xfrm>
          <a:prstGeom prst="line">
            <a:avLst/>
          </a:prstGeom>
          <a:noFill/>
          <a:ln w="15875">
            <a:solidFill>
              <a:srgbClr val="BBA6F5"/>
            </a:solidFill>
            <a:prstDash val="solid"/>
          </a:ln>
        </p:spPr>
      </p:sp>
      <p:sp>
        <p:nvSpPr>
          <p:cNvPr id="73" name="Shape 71"/>
          <p:cNvSpPr/>
          <p:nvPr/>
        </p:nvSpPr>
        <p:spPr>
          <a:xfrm flipV="1">
            <a:off x="3374136" y="3977640"/>
            <a:ext cx="457200" cy="292608"/>
          </a:xfrm>
          <a:prstGeom prst="line">
            <a:avLst/>
          </a:prstGeom>
          <a:noFill/>
          <a:ln w="15875">
            <a:solidFill>
              <a:srgbClr val="BBA6F5"/>
            </a:solidFill>
            <a:prstDash val="solid"/>
          </a:ln>
        </p:spPr>
      </p:sp>
      <p:sp>
        <p:nvSpPr>
          <p:cNvPr id="74" name="Shape 72"/>
          <p:cNvSpPr/>
          <p:nvPr/>
        </p:nvSpPr>
        <p:spPr>
          <a:xfrm flipV="1">
            <a:off x="3831336" y="3977640"/>
            <a:ext cx="457200" cy="292608"/>
          </a:xfrm>
          <a:prstGeom prst="line">
            <a:avLst/>
          </a:prstGeom>
          <a:noFill/>
          <a:ln w="15875">
            <a:solidFill>
              <a:srgbClr val="BBA6F5"/>
            </a:solidFill>
            <a:prstDash val="solid"/>
          </a:ln>
        </p:spPr>
      </p:sp>
      <p:sp>
        <p:nvSpPr>
          <p:cNvPr id="75" name="Text 73"/>
          <p:cNvSpPr txBox="1"/>
          <p:nvPr/>
        </p:nvSpPr>
        <p:spPr>
          <a:xfrm>
            <a:off x="5669280" y="3611880"/>
            <a:ext cx="2743200" cy="1005840"/>
          </a:xfrm>
          <a:prstGeom prst="rect">
            <a:avLst/>
          </a:prstGeom>
          <a:noFill/>
          <a:ln/>
        </p:spPr>
        <p:txBody>
          <a:bodyPr wrap="square" lIns="0" tIns="0" rIns="0" bIns="0" rtlCol="0" anchor="ctr"/>
          <a:lstStyle/>
          <a:p>
            <a:pPr marL="0" indent="0">
              <a:buNone/>
            </a:pPr>
            <a:r>
              <a:rPr lang="en-US" sz="1000" b="1" dirty="0">
                <a:solidFill>
                  <a:srgbClr val="6B46C1"/>
                </a:solidFill>
                <a:latin typeface="Calibri" pitchFamily="34" charset="0"/>
                <a:ea typeface="Calibri" pitchFamily="34" charset="-122"/>
                <a:cs typeface="Calibri" pitchFamily="34" charset="-120"/>
              </a:rPr>
              <a:t>COMMON THREAD</a:t>
            </a:r>
            <a:endParaRPr lang="en-US" sz="1400" dirty="0"/>
          </a:p>
          <a:p>
            <a:pPr marL="0" indent="0">
              <a:buNone/>
            </a:pPr>
            <a:r>
              <a:rPr lang="en-US" sz="2600" b="1" dirty="0">
                <a:solidFill>
                  <a:srgbClr val="0F766E"/>
                </a:solidFill>
                <a:latin typeface="Courier New" pitchFamily="34" charset="0"/>
                <a:ea typeface="Courier New" pitchFamily="34" charset="-122"/>
                <a:cs typeface="Courier New" pitchFamily="34" charset="-120"/>
              </a:rPr>
              <a:t>ACTAC</a:t>
            </a:r>
            <a:endParaRPr lang="en-US" sz="1400" dirty="0"/>
          </a:p>
          <a:p>
            <a:pPr marL="0" indent="0">
              <a:buNone/>
            </a:pPr>
            <a:r>
              <a:rPr lang="en-US" sz="1200" dirty="0">
                <a:solidFill>
                  <a:srgbClr val="6B6890"/>
                </a:solidFill>
                <a:latin typeface="Calibri" pitchFamily="34" charset="0"/>
                <a:ea typeface="Calibri" pitchFamily="34" charset="-122"/>
                <a:cs typeface="Calibri" pitchFamily="34" charset="-120"/>
              </a:rPr>
              <a:t>LCS length 5</a:t>
            </a:r>
            <a:endParaRPr lang="en-US" sz="1400" dirty="0"/>
          </a:p>
        </p:txBody>
      </p:sp>
      <p:sp>
        <p:nvSpPr>
          <p:cNvPr id="76"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rgbClr val="2B2A4C"/>
                </a:solidFill>
              </a:rPr>
              <a:t>The Engine Behind Common Thread</a:t>
            </a:r>
            <a:endParaRPr lang="en-US" sz="3400" dirty="0"/>
          </a:p>
        </p:txBody>
      </p:sp>
      <p:sp>
        <p:nvSpPr>
          <p:cNvPr id="3" name="Text 1"/>
          <p:cNvSpPr txBox="1"/>
          <p:nvPr/>
        </p:nvSpPr>
        <p:spPr>
          <a:xfrm>
            <a:off x="457200" y="1097280"/>
            <a:ext cx="274320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TECHNOLOGY STACK</a:t>
            </a:r>
            <a:endParaRPr lang="en-US" sz="1100" dirty="0"/>
          </a:p>
        </p:txBody>
      </p:sp>
      <p:sp>
        <p:nvSpPr>
          <p:cNvPr id="4" name="Shape 2"/>
          <p:cNvSpPr/>
          <p:nvPr/>
        </p:nvSpPr>
        <p:spPr>
          <a:xfrm>
            <a:off x="457200" y="1371600"/>
            <a:ext cx="3931920" cy="384048"/>
          </a:xfrm>
          <a:prstGeom prst="roundRect">
            <a:avLst>
              <a:gd name="adj" fmla="val 19048"/>
            </a:avLst>
          </a:prstGeom>
          <a:solidFill>
            <a:srgbClr val="FFFFFF"/>
          </a:solidFill>
          <a:ln w="9525">
            <a:solidFill>
              <a:srgbClr val="D9D0F2"/>
            </a:solidFill>
            <a:prstDash val="solid"/>
          </a:ln>
        </p:spPr>
      </p:sp>
      <p:sp>
        <p:nvSpPr>
          <p:cNvPr id="5" name="Text 3"/>
          <p:cNvSpPr txBox="1"/>
          <p:nvPr/>
        </p:nvSpPr>
        <p:spPr>
          <a:xfrm>
            <a:off x="594360" y="1371600"/>
            <a:ext cx="1371600" cy="384048"/>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Python</a:t>
            </a:r>
            <a:endParaRPr lang="en-US" sz="1300" dirty="0"/>
          </a:p>
        </p:txBody>
      </p:sp>
      <p:sp>
        <p:nvSpPr>
          <p:cNvPr id="6" name="Text 4"/>
          <p:cNvSpPr txBox="1"/>
          <p:nvPr/>
        </p:nvSpPr>
        <p:spPr>
          <a:xfrm>
            <a:off x="1965960" y="1371600"/>
            <a:ext cx="2331720" cy="384048"/>
          </a:xfrm>
          <a:prstGeom prst="rect">
            <a:avLst/>
          </a:prstGeom>
          <a:noFill/>
          <a:ln/>
        </p:spPr>
        <p:txBody>
          <a:bodyPr wrap="square" lIns="0" tIns="0" rIns="0" bIns="0" rtlCol="0" anchor="ctr"/>
          <a:lstStyle/>
          <a:p>
            <a:pPr marL="0" indent="0">
              <a:buNone/>
            </a:pPr>
            <a:r>
              <a:rPr lang="en-US" sz="1200" dirty="0">
                <a:solidFill>
                  <a:srgbClr val="4A4870"/>
                </a:solidFill>
                <a:latin typeface="Calibri" pitchFamily="34" charset="0"/>
                <a:ea typeface="Calibri" pitchFamily="34" charset="-122"/>
                <a:cs typeface="Calibri" pitchFamily="34" charset="-120"/>
              </a:rPr>
              <a:t>Algorithm implementation</a:t>
            </a:r>
            <a:endParaRPr lang="en-US" sz="1200" dirty="0"/>
          </a:p>
        </p:txBody>
      </p:sp>
      <p:sp>
        <p:nvSpPr>
          <p:cNvPr id="7" name="Shape 5"/>
          <p:cNvSpPr/>
          <p:nvPr/>
        </p:nvSpPr>
        <p:spPr>
          <a:xfrm>
            <a:off x="457200" y="1810512"/>
            <a:ext cx="3931920" cy="384048"/>
          </a:xfrm>
          <a:prstGeom prst="roundRect">
            <a:avLst>
              <a:gd name="adj" fmla="val 19048"/>
            </a:avLst>
          </a:prstGeom>
          <a:solidFill>
            <a:srgbClr val="FFFFFF"/>
          </a:solidFill>
          <a:ln w="9525">
            <a:solidFill>
              <a:srgbClr val="D9D0F2"/>
            </a:solidFill>
            <a:prstDash val="solid"/>
          </a:ln>
        </p:spPr>
      </p:sp>
      <p:sp>
        <p:nvSpPr>
          <p:cNvPr id="8" name="Text 6"/>
          <p:cNvSpPr txBox="1"/>
          <p:nvPr/>
        </p:nvSpPr>
        <p:spPr>
          <a:xfrm>
            <a:off x="594360" y="1810512"/>
            <a:ext cx="1371600" cy="384048"/>
          </a:xfrm>
          <a:prstGeom prst="rect">
            <a:avLst/>
          </a:prstGeom>
          <a:noFill/>
          <a:ln/>
        </p:spPr>
        <p:txBody>
          <a:bodyPr wrap="square" lIns="0" tIns="0" rIns="0" bIns="0" rtlCol="0" anchor="ctr"/>
          <a:lstStyle/>
          <a:p>
            <a:pPr marL="0" indent="0">
              <a:buNone/>
            </a:pPr>
            <a:r>
              <a:rPr lang="en-US" sz="1300" b="1" dirty="0">
                <a:solidFill>
                  <a:srgbClr val="6B46C1"/>
                </a:solidFill>
                <a:latin typeface="Calibri" pitchFamily="34" charset="0"/>
                <a:ea typeface="Calibri" pitchFamily="34" charset="-122"/>
                <a:cs typeface="Calibri" pitchFamily="34" charset="-120"/>
              </a:rPr>
              <a:t>Streamlit</a:t>
            </a:r>
            <a:endParaRPr lang="en-US" sz="1300" dirty="0"/>
          </a:p>
        </p:txBody>
      </p:sp>
      <p:sp>
        <p:nvSpPr>
          <p:cNvPr id="9" name="Text 7"/>
          <p:cNvSpPr txBox="1"/>
          <p:nvPr/>
        </p:nvSpPr>
        <p:spPr>
          <a:xfrm>
            <a:off x="1965960" y="1810512"/>
            <a:ext cx="2331720" cy="384048"/>
          </a:xfrm>
          <a:prstGeom prst="rect">
            <a:avLst/>
          </a:prstGeom>
          <a:noFill/>
          <a:ln/>
        </p:spPr>
        <p:txBody>
          <a:bodyPr wrap="square" lIns="0" tIns="0" rIns="0" bIns="0" rtlCol="0" anchor="ctr"/>
          <a:lstStyle/>
          <a:p>
            <a:pPr marL="0" indent="0">
              <a:buNone/>
            </a:pPr>
            <a:r>
              <a:rPr lang="en-US" sz="1200" dirty="0">
                <a:solidFill>
                  <a:srgbClr val="4A4870"/>
                </a:solidFill>
                <a:latin typeface="Calibri" pitchFamily="34" charset="0"/>
                <a:ea typeface="Calibri" pitchFamily="34" charset="-122"/>
                <a:cs typeface="Calibri" pitchFamily="34" charset="-120"/>
              </a:rPr>
              <a:t>Interactive Python app</a:t>
            </a:r>
            <a:endParaRPr lang="en-US" sz="1200" dirty="0"/>
          </a:p>
        </p:txBody>
      </p:sp>
      <p:sp>
        <p:nvSpPr>
          <p:cNvPr id="10" name="Shape 8"/>
          <p:cNvSpPr/>
          <p:nvPr/>
        </p:nvSpPr>
        <p:spPr>
          <a:xfrm>
            <a:off x="457200" y="2249424"/>
            <a:ext cx="3931920" cy="384048"/>
          </a:xfrm>
          <a:prstGeom prst="roundRect">
            <a:avLst>
              <a:gd name="adj" fmla="val 19048"/>
            </a:avLst>
          </a:prstGeom>
          <a:solidFill>
            <a:srgbClr val="FFFFFF"/>
          </a:solidFill>
          <a:ln w="9525">
            <a:solidFill>
              <a:srgbClr val="D9D0F2"/>
            </a:solidFill>
            <a:prstDash val="solid"/>
          </a:ln>
        </p:spPr>
      </p:sp>
      <p:sp>
        <p:nvSpPr>
          <p:cNvPr id="11" name="Text 9"/>
          <p:cNvSpPr txBox="1"/>
          <p:nvPr/>
        </p:nvSpPr>
        <p:spPr>
          <a:xfrm>
            <a:off x="594360" y="2249424"/>
            <a:ext cx="1371600" cy="384048"/>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Biopython</a:t>
            </a:r>
            <a:endParaRPr lang="en-US" sz="1300" dirty="0"/>
          </a:p>
        </p:txBody>
      </p:sp>
      <p:sp>
        <p:nvSpPr>
          <p:cNvPr id="12" name="Text 10"/>
          <p:cNvSpPr txBox="1"/>
          <p:nvPr/>
        </p:nvSpPr>
        <p:spPr>
          <a:xfrm>
            <a:off x="1965960" y="2249424"/>
            <a:ext cx="2331720" cy="384048"/>
          </a:xfrm>
          <a:prstGeom prst="rect">
            <a:avLst/>
          </a:prstGeom>
          <a:noFill/>
          <a:ln/>
        </p:spPr>
        <p:txBody>
          <a:bodyPr wrap="square" lIns="0" tIns="0" rIns="0" bIns="0" rtlCol="0" anchor="ctr"/>
          <a:lstStyle/>
          <a:p>
            <a:pPr marL="0" indent="0">
              <a:buNone/>
            </a:pPr>
            <a:r>
              <a:rPr lang="en-US" sz="1200" dirty="0">
                <a:solidFill>
                  <a:srgbClr val="4A4870"/>
                </a:solidFill>
                <a:latin typeface="Calibri" pitchFamily="34" charset="0"/>
                <a:ea typeface="Calibri" pitchFamily="34" charset="-122"/>
                <a:cs typeface="Calibri" pitchFamily="34" charset="-120"/>
              </a:rPr>
              <a:t>Biological sequence alignment</a:t>
            </a:r>
            <a:endParaRPr lang="en-US" sz="1200" dirty="0"/>
          </a:p>
        </p:txBody>
      </p:sp>
      <p:sp>
        <p:nvSpPr>
          <p:cNvPr id="13" name="Shape 11"/>
          <p:cNvSpPr/>
          <p:nvPr/>
        </p:nvSpPr>
        <p:spPr>
          <a:xfrm>
            <a:off x="457200" y="2688336"/>
            <a:ext cx="3931920" cy="384048"/>
          </a:xfrm>
          <a:prstGeom prst="roundRect">
            <a:avLst>
              <a:gd name="adj" fmla="val 19048"/>
            </a:avLst>
          </a:prstGeom>
          <a:solidFill>
            <a:srgbClr val="FFFFFF"/>
          </a:solidFill>
          <a:ln w="9525">
            <a:solidFill>
              <a:srgbClr val="D9D0F2"/>
            </a:solidFill>
            <a:prstDash val="solid"/>
          </a:ln>
        </p:spPr>
      </p:sp>
      <p:sp>
        <p:nvSpPr>
          <p:cNvPr id="14" name="Text 12"/>
          <p:cNvSpPr txBox="1"/>
          <p:nvPr/>
        </p:nvSpPr>
        <p:spPr>
          <a:xfrm>
            <a:off x="594360" y="2688336"/>
            <a:ext cx="1371600" cy="384048"/>
          </a:xfrm>
          <a:prstGeom prst="rect">
            <a:avLst/>
          </a:prstGeom>
          <a:noFill/>
          <a:ln/>
        </p:spPr>
        <p:txBody>
          <a:bodyPr wrap="square" lIns="0" tIns="0" rIns="0" bIns="0" rtlCol="0" anchor="ctr"/>
          <a:lstStyle/>
          <a:p>
            <a:pPr marL="0" indent="0">
              <a:buNone/>
            </a:pPr>
            <a:r>
              <a:rPr lang="en-US" sz="1300" b="1" dirty="0">
                <a:solidFill>
                  <a:srgbClr val="6B46C1"/>
                </a:solidFill>
                <a:latin typeface="Calibri" pitchFamily="34" charset="0"/>
                <a:ea typeface="Calibri" pitchFamily="34" charset="-122"/>
                <a:cs typeface="Calibri" pitchFamily="34" charset="-120"/>
              </a:rPr>
              <a:t>Pyodide</a:t>
            </a:r>
            <a:endParaRPr lang="en-US" sz="1300" dirty="0"/>
          </a:p>
        </p:txBody>
      </p:sp>
      <p:sp>
        <p:nvSpPr>
          <p:cNvPr id="15" name="Text 13"/>
          <p:cNvSpPr txBox="1"/>
          <p:nvPr/>
        </p:nvSpPr>
        <p:spPr>
          <a:xfrm>
            <a:off x="1965960" y="2688336"/>
            <a:ext cx="2331720" cy="384048"/>
          </a:xfrm>
          <a:prstGeom prst="rect">
            <a:avLst/>
          </a:prstGeom>
          <a:noFill/>
          <a:ln/>
        </p:spPr>
        <p:txBody>
          <a:bodyPr wrap="square" lIns="0" tIns="0" rIns="0" bIns="0" rtlCol="0" anchor="ctr"/>
          <a:lstStyle/>
          <a:p>
            <a:pPr marL="0" indent="0">
              <a:buNone/>
            </a:pPr>
            <a:r>
              <a:rPr lang="en-US" sz="1200" dirty="0">
                <a:solidFill>
                  <a:srgbClr val="4A4870"/>
                </a:solidFill>
                <a:latin typeface="Calibri" pitchFamily="34" charset="0"/>
                <a:ea typeface="Calibri" pitchFamily="34" charset="-122"/>
                <a:cs typeface="Calibri" pitchFamily="34" charset="-120"/>
              </a:rPr>
              <a:t>Python execution in browser</a:t>
            </a:r>
            <a:endParaRPr lang="en-US" sz="1200" dirty="0"/>
          </a:p>
        </p:txBody>
      </p:sp>
      <p:sp>
        <p:nvSpPr>
          <p:cNvPr id="16" name="Shape 14"/>
          <p:cNvSpPr/>
          <p:nvPr/>
        </p:nvSpPr>
        <p:spPr>
          <a:xfrm>
            <a:off x="457200" y="3127248"/>
            <a:ext cx="3931920" cy="384048"/>
          </a:xfrm>
          <a:prstGeom prst="roundRect">
            <a:avLst>
              <a:gd name="adj" fmla="val 19048"/>
            </a:avLst>
          </a:prstGeom>
          <a:solidFill>
            <a:srgbClr val="FFFFFF"/>
          </a:solidFill>
          <a:ln w="9525">
            <a:solidFill>
              <a:srgbClr val="D9D0F2"/>
            </a:solidFill>
            <a:prstDash val="solid"/>
          </a:ln>
        </p:spPr>
      </p:sp>
      <p:sp>
        <p:nvSpPr>
          <p:cNvPr id="17" name="Text 15"/>
          <p:cNvSpPr txBox="1"/>
          <p:nvPr/>
        </p:nvSpPr>
        <p:spPr>
          <a:xfrm>
            <a:off x="594360" y="3127248"/>
            <a:ext cx="1371600" cy="384048"/>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Web Technologies</a:t>
            </a:r>
            <a:endParaRPr lang="en-US" sz="1300" dirty="0"/>
          </a:p>
        </p:txBody>
      </p:sp>
      <p:sp>
        <p:nvSpPr>
          <p:cNvPr id="18" name="Text 16"/>
          <p:cNvSpPr txBox="1"/>
          <p:nvPr/>
        </p:nvSpPr>
        <p:spPr>
          <a:xfrm>
            <a:off x="1965960" y="3127248"/>
            <a:ext cx="2331720" cy="384048"/>
          </a:xfrm>
          <a:prstGeom prst="rect">
            <a:avLst/>
          </a:prstGeom>
          <a:noFill/>
          <a:ln/>
        </p:spPr>
        <p:txBody>
          <a:bodyPr wrap="square" lIns="0" tIns="0" rIns="0" bIns="0" rtlCol="0" anchor="ctr"/>
          <a:lstStyle/>
          <a:p>
            <a:pPr marL="0" indent="0">
              <a:buNone/>
            </a:pPr>
            <a:r>
              <a:rPr lang="en-US" sz="1200" dirty="0">
                <a:solidFill>
                  <a:srgbClr val="4A4870"/>
                </a:solidFill>
                <a:latin typeface="Calibri" pitchFamily="34" charset="0"/>
                <a:ea typeface="Calibri" pitchFamily="34" charset="-122"/>
                <a:cs typeface="Calibri" pitchFamily="34" charset="-120"/>
              </a:rPr>
              <a:t>Interactive visualization</a:t>
            </a:r>
            <a:endParaRPr lang="en-US" sz="1200" dirty="0"/>
          </a:p>
        </p:txBody>
      </p:sp>
      <p:sp>
        <p:nvSpPr>
          <p:cNvPr id="19" name="Text 17"/>
          <p:cNvSpPr txBox="1"/>
          <p:nvPr/>
        </p:nvSpPr>
        <p:spPr>
          <a:xfrm>
            <a:off x="457200" y="3611880"/>
            <a:ext cx="365760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LCS vs GLOBAL ALIGNMENT</a:t>
            </a:r>
            <a:endParaRPr lang="en-US" sz="1100" dirty="0"/>
          </a:p>
        </p:txBody>
      </p:sp>
      <p:sp>
        <p:nvSpPr>
          <p:cNvPr id="20" name="Shape 18"/>
          <p:cNvSpPr/>
          <p:nvPr/>
        </p:nvSpPr>
        <p:spPr>
          <a:xfrm>
            <a:off x="457200" y="3886200"/>
            <a:ext cx="1920240" cy="822960"/>
          </a:xfrm>
          <a:prstGeom prst="roundRect">
            <a:avLst>
              <a:gd name="adj" fmla="val 8889"/>
            </a:avLst>
          </a:prstGeom>
          <a:solidFill>
            <a:srgbClr val="FFFFFF"/>
          </a:solidFill>
          <a:ln w="9525">
            <a:solidFill>
              <a:srgbClr val="D9D0F2"/>
            </a:solidFill>
            <a:prstDash val="solid"/>
          </a:ln>
        </p:spPr>
      </p:sp>
      <p:sp>
        <p:nvSpPr>
          <p:cNvPr id="21" name="Shape 19"/>
          <p:cNvSpPr/>
          <p:nvPr/>
        </p:nvSpPr>
        <p:spPr>
          <a:xfrm>
            <a:off x="2468880" y="3886200"/>
            <a:ext cx="1920240" cy="822960"/>
          </a:xfrm>
          <a:prstGeom prst="roundRect">
            <a:avLst>
              <a:gd name="adj" fmla="val 8889"/>
            </a:avLst>
          </a:prstGeom>
          <a:solidFill>
            <a:srgbClr val="FFFFFF"/>
          </a:solidFill>
          <a:ln w="9525">
            <a:solidFill>
              <a:srgbClr val="D9D0F2"/>
            </a:solidFill>
            <a:prstDash val="solid"/>
          </a:ln>
        </p:spPr>
      </p:sp>
      <p:sp>
        <p:nvSpPr>
          <p:cNvPr id="22" name="Text 20"/>
          <p:cNvSpPr txBox="1"/>
          <p:nvPr/>
        </p:nvSpPr>
        <p:spPr>
          <a:xfrm>
            <a:off x="566928" y="3950208"/>
            <a:ext cx="1737360" cy="731520"/>
          </a:xfrm>
          <a:prstGeom prst="rect">
            <a:avLst/>
          </a:prstGeom>
          <a:noFill/>
          <a:ln/>
        </p:spPr>
        <p:txBody>
          <a:bodyPr wrap="square" lIns="0" tIns="0" rIns="0" bIns="0" rtlCol="0" anchor="t"/>
          <a:lstStyle/>
          <a:p>
            <a:pPr marL="0" indent="0">
              <a:buNone/>
            </a:pPr>
            <a:r>
              <a:rPr lang="en-US" sz="1300" b="1" dirty="0">
                <a:solidFill>
                  <a:srgbClr val="0F766E"/>
                </a:solidFill>
                <a:latin typeface="Calibri" pitchFamily="34" charset="0"/>
                <a:ea typeface="Calibri" pitchFamily="34" charset="-122"/>
                <a:cs typeface="Calibri" pitchFamily="34" charset="-120"/>
              </a:rPr>
              <a:t>LCS</a:t>
            </a:r>
            <a:endParaRPr lang="en-US" sz="1400" dirty="0"/>
          </a:p>
          <a:p>
            <a:pPr marL="0" indent="0">
              <a:buNone/>
            </a:pPr>
            <a:r>
              <a:rPr lang="en-US" sz="1200" dirty="0">
                <a:solidFill>
                  <a:srgbClr val="4A4870"/>
                </a:solidFill>
                <a:latin typeface="Calibri" pitchFamily="34" charset="0"/>
                <a:ea typeface="Calibri" pitchFamily="34" charset="-122"/>
                <a:cs typeface="Calibri" pitchFamily="34" charset="-120"/>
              </a:rPr>
              <a:t>Ordered common subsequence</a:t>
            </a:r>
            <a:endParaRPr lang="en-US" sz="1400" dirty="0"/>
          </a:p>
        </p:txBody>
      </p:sp>
      <p:sp>
        <p:nvSpPr>
          <p:cNvPr id="23" name="Text 21"/>
          <p:cNvSpPr txBox="1"/>
          <p:nvPr/>
        </p:nvSpPr>
        <p:spPr>
          <a:xfrm>
            <a:off x="2578608" y="3950208"/>
            <a:ext cx="1737360" cy="731520"/>
          </a:xfrm>
          <a:prstGeom prst="rect">
            <a:avLst/>
          </a:prstGeom>
          <a:noFill/>
          <a:ln/>
        </p:spPr>
        <p:txBody>
          <a:bodyPr wrap="square" lIns="0" tIns="0" rIns="0" bIns="0" rtlCol="0" anchor="t"/>
          <a:lstStyle/>
          <a:p>
            <a:pPr marL="0" indent="0">
              <a:buNone/>
            </a:pPr>
            <a:r>
              <a:rPr lang="en-US" sz="1300" b="1" dirty="0">
                <a:solidFill>
                  <a:srgbClr val="6B46C1"/>
                </a:solidFill>
                <a:latin typeface="Calibri" pitchFamily="34" charset="0"/>
                <a:ea typeface="Calibri" pitchFamily="34" charset="-122"/>
                <a:cs typeface="Calibri" pitchFamily="34" charset="-120"/>
              </a:rPr>
              <a:t>Global Alignment</a:t>
            </a:r>
            <a:endParaRPr lang="en-US" sz="1400" dirty="0"/>
          </a:p>
          <a:p>
            <a:pPr marL="0" indent="0">
              <a:buNone/>
            </a:pPr>
            <a:r>
              <a:rPr lang="en-US" sz="1200" dirty="0">
                <a:solidFill>
                  <a:srgbClr val="4A4870"/>
                </a:solidFill>
                <a:latin typeface="Calibri" pitchFamily="34" charset="0"/>
                <a:ea typeface="Calibri" pitchFamily="34" charset="-122"/>
                <a:cs typeface="Calibri" pitchFamily="34" charset="-120"/>
              </a:rPr>
              <a:t>Scored: matches, mismatches, gaps</a:t>
            </a:r>
            <a:endParaRPr lang="en-US" sz="1400" dirty="0"/>
          </a:p>
        </p:txBody>
      </p:sp>
      <p:sp>
        <p:nvSpPr>
          <p:cNvPr id="24" name="Text 22"/>
          <p:cNvSpPr txBox="1"/>
          <p:nvPr/>
        </p:nvSpPr>
        <p:spPr>
          <a:xfrm>
            <a:off x="4663440" y="1097280"/>
            <a:ext cx="402336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CORE ALGORITHM</a:t>
            </a:r>
            <a:endParaRPr lang="en-US" sz="1100" dirty="0"/>
          </a:p>
        </p:txBody>
      </p:sp>
      <p:sp>
        <p:nvSpPr>
          <p:cNvPr id="25" name="Shape 23"/>
          <p:cNvSpPr/>
          <p:nvPr/>
        </p:nvSpPr>
        <p:spPr>
          <a:xfrm>
            <a:off x="4663440" y="1371600"/>
            <a:ext cx="4023360" cy="1920240"/>
          </a:xfrm>
          <a:prstGeom prst="roundRect">
            <a:avLst>
              <a:gd name="adj" fmla="val 3810"/>
            </a:avLst>
          </a:prstGeom>
          <a:solidFill>
            <a:srgbClr val="FFFFFF"/>
          </a:solidFill>
          <a:ln w="12700">
            <a:solidFill>
              <a:srgbClr val="0F766E"/>
            </a:solidFill>
            <a:prstDash val="solid"/>
          </a:ln>
        </p:spPr>
      </p:sp>
      <p:sp>
        <p:nvSpPr>
          <p:cNvPr id="26" name="Text 24"/>
          <p:cNvSpPr txBox="1"/>
          <p:nvPr/>
        </p:nvSpPr>
        <p:spPr>
          <a:xfrm>
            <a:off x="4846320" y="1481328"/>
            <a:ext cx="3657600" cy="1737360"/>
          </a:xfrm>
          <a:prstGeom prst="rect">
            <a:avLst/>
          </a:prstGeom>
          <a:noFill/>
          <a:ln/>
        </p:spPr>
        <p:txBody>
          <a:bodyPr wrap="square" lIns="0" tIns="0" rIns="0" bIns="0" rtlCol="0" anchor="ctr"/>
          <a:lstStyle/>
          <a:p>
            <a:pPr marL="0" indent="0">
              <a:buNone/>
            </a:pPr>
            <a:r>
              <a:rPr lang="en-US" sz="1200" dirty="0">
                <a:solidFill>
                  <a:srgbClr val="6B6890"/>
                </a:solidFill>
                <a:latin typeface="Courier New" pitchFamily="34" charset="0"/>
                <a:ea typeface="Courier New" pitchFamily="34" charset="-122"/>
                <a:cs typeface="Courier New" pitchFamily="34" charset="-120"/>
              </a:rPr>
              <a:t>when A[i] = B[j]</a:t>
            </a:r>
            <a:endParaRPr lang="en-US" sz="1400" dirty="0"/>
          </a:p>
          <a:p>
            <a:pPr marL="0" indent="0">
              <a:buNone/>
            </a:pPr>
            <a:r>
              <a:rPr lang="en-US" sz="1300" dirty="0">
                <a:solidFill>
                  <a:srgbClr val="0F766E"/>
                </a:solidFill>
                <a:latin typeface="Courier New" pitchFamily="34" charset="0"/>
                <a:ea typeface="Courier New" pitchFamily="34" charset="-122"/>
                <a:cs typeface="Courier New" pitchFamily="34" charset="-120"/>
              </a:rPr>
              <a:t>  dp[i][j] = dp[i-1][j-1] + 1</a:t>
            </a:r>
            <a:endParaRPr lang="en-US" sz="1400" dirty="0"/>
          </a:p>
          <a:p>
            <a:pPr marL="0" indent="0">
              <a:buNone/>
            </a:pPr>
            <a:r>
              <a:rPr lang="en-US" sz="800" dirty="0">
                <a:solidFill>
                  <a:srgbClr val="2B2A4C"/>
                </a:solidFill>
                <a:latin typeface="Courier New" pitchFamily="34" charset="0"/>
                <a:ea typeface="Courier New" pitchFamily="34" charset="-122"/>
                <a:cs typeface="Courier New" pitchFamily="34" charset="-120"/>
              </a:rPr>
              <a:t> </a:t>
            </a:r>
            <a:endParaRPr lang="en-US" sz="1400" dirty="0"/>
          </a:p>
          <a:p>
            <a:pPr marL="0" indent="0">
              <a:buNone/>
            </a:pPr>
            <a:r>
              <a:rPr lang="en-US" sz="1200" dirty="0">
                <a:solidFill>
                  <a:srgbClr val="6B6890"/>
                </a:solidFill>
                <a:latin typeface="Courier New" pitchFamily="34" charset="0"/>
                <a:ea typeface="Courier New" pitchFamily="34" charset="-122"/>
                <a:cs typeface="Courier New" pitchFamily="34" charset="-120"/>
              </a:rPr>
              <a:t>when A[i] ≠ B[j]</a:t>
            </a:r>
            <a:endParaRPr lang="en-US" sz="1400" dirty="0"/>
          </a:p>
          <a:p>
            <a:pPr marL="0" indent="0">
              <a:buNone/>
            </a:pPr>
            <a:r>
              <a:rPr lang="en-US" sz="1300" dirty="0">
                <a:solidFill>
                  <a:srgbClr val="6B46C1"/>
                </a:solidFill>
                <a:latin typeface="Courier New" pitchFamily="34" charset="0"/>
                <a:ea typeface="Courier New" pitchFamily="34" charset="-122"/>
                <a:cs typeface="Courier New" pitchFamily="34" charset="-120"/>
              </a:rPr>
              <a:t>  dp[i][j] = max(dp[i-1][j],</a:t>
            </a:r>
            <a:endParaRPr lang="en-US" sz="1400" dirty="0"/>
          </a:p>
          <a:p>
            <a:pPr marL="0" indent="0">
              <a:buNone/>
            </a:pPr>
            <a:r>
              <a:rPr lang="en-US" sz="1300" dirty="0">
                <a:solidFill>
                  <a:srgbClr val="6B46C1"/>
                </a:solidFill>
                <a:latin typeface="Courier New" pitchFamily="34" charset="0"/>
                <a:ea typeface="Courier New" pitchFamily="34" charset="-122"/>
                <a:cs typeface="Courier New" pitchFamily="34" charset="-120"/>
              </a:rPr>
              <a:t>                 dp[i][j-1])</a:t>
            </a:r>
            <a:endParaRPr lang="en-US" sz="1400" dirty="0"/>
          </a:p>
        </p:txBody>
      </p:sp>
      <p:sp>
        <p:nvSpPr>
          <p:cNvPr id="27" name="Shape 25"/>
          <p:cNvSpPr/>
          <p:nvPr/>
        </p:nvSpPr>
        <p:spPr>
          <a:xfrm>
            <a:off x="4663440" y="3429000"/>
            <a:ext cx="1965960" cy="457200"/>
          </a:xfrm>
          <a:prstGeom prst="roundRect">
            <a:avLst>
              <a:gd name="adj" fmla="val 12000"/>
            </a:avLst>
          </a:prstGeom>
          <a:solidFill>
            <a:srgbClr val="EAE4FB"/>
          </a:solidFill>
          <a:ln w="9525">
            <a:solidFill>
              <a:srgbClr val="D9D0F2"/>
            </a:solidFill>
            <a:prstDash val="solid"/>
          </a:ln>
        </p:spPr>
      </p:sp>
      <p:sp>
        <p:nvSpPr>
          <p:cNvPr id="28" name="Text 26"/>
          <p:cNvSpPr txBox="1"/>
          <p:nvPr/>
        </p:nvSpPr>
        <p:spPr>
          <a:xfrm>
            <a:off x="4663440" y="3429000"/>
            <a:ext cx="1965960" cy="457200"/>
          </a:xfrm>
          <a:prstGeom prst="rect">
            <a:avLst/>
          </a:prstGeom>
          <a:noFill/>
          <a:ln/>
        </p:spPr>
        <p:txBody>
          <a:bodyPr wrap="square" lIns="0" tIns="0" rIns="0" bIns="0" rtlCol="0" anchor="ctr"/>
          <a:lstStyle/>
          <a:p>
            <a:pPr marL="0" indent="0" algn="ctr">
              <a:buNone/>
            </a:pPr>
            <a:r>
              <a:rPr lang="en-US" sz="1400" b="1" dirty="0">
                <a:solidFill>
                  <a:srgbClr val="0F766E"/>
                </a:solidFill>
                <a:latin typeface="Calibri" pitchFamily="34" charset="0"/>
                <a:ea typeface="Calibri" pitchFamily="34" charset="-122"/>
                <a:cs typeface="Calibri" pitchFamily="34" charset="-120"/>
              </a:rPr>
              <a:t>Time  O(m × n)</a:t>
            </a:r>
            <a:endParaRPr lang="en-US" sz="1400" dirty="0"/>
          </a:p>
        </p:txBody>
      </p:sp>
      <p:sp>
        <p:nvSpPr>
          <p:cNvPr id="29" name="Shape 27"/>
          <p:cNvSpPr/>
          <p:nvPr/>
        </p:nvSpPr>
        <p:spPr>
          <a:xfrm>
            <a:off x="6720840" y="3429000"/>
            <a:ext cx="1965960" cy="457200"/>
          </a:xfrm>
          <a:prstGeom prst="roundRect">
            <a:avLst>
              <a:gd name="adj" fmla="val 12000"/>
            </a:avLst>
          </a:prstGeom>
          <a:solidFill>
            <a:srgbClr val="EAE4FB"/>
          </a:solidFill>
          <a:ln w="9525">
            <a:solidFill>
              <a:srgbClr val="D9D0F2"/>
            </a:solidFill>
            <a:prstDash val="solid"/>
          </a:ln>
        </p:spPr>
      </p:sp>
      <p:sp>
        <p:nvSpPr>
          <p:cNvPr id="30" name="Text 28"/>
          <p:cNvSpPr txBox="1"/>
          <p:nvPr/>
        </p:nvSpPr>
        <p:spPr>
          <a:xfrm>
            <a:off x="6720840" y="3429000"/>
            <a:ext cx="1965960" cy="457200"/>
          </a:xfrm>
          <a:prstGeom prst="rect">
            <a:avLst/>
          </a:prstGeom>
          <a:noFill/>
          <a:ln/>
        </p:spPr>
        <p:txBody>
          <a:bodyPr wrap="square" lIns="0" tIns="0" rIns="0" bIns="0" rtlCol="0" anchor="ctr"/>
          <a:lstStyle/>
          <a:p>
            <a:pPr marL="0" indent="0" algn="ctr">
              <a:buNone/>
            </a:pPr>
            <a:r>
              <a:rPr lang="en-US" sz="1400" b="1" dirty="0">
                <a:solidFill>
                  <a:srgbClr val="6B46C1"/>
                </a:solidFill>
                <a:latin typeface="Calibri" pitchFamily="34" charset="0"/>
                <a:ea typeface="Calibri" pitchFamily="34" charset="-122"/>
                <a:cs typeface="Calibri" pitchFamily="34" charset="-120"/>
              </a:rPr>
              <a:t>Space  O(m × n)</a:t>
            </a:r>
            <a:endParaRPr lang="en-US" sz="1400" dirty="0"/>
          </a:p>
        </p:txBody>
      </p:sp>
      <p:sp>
        <p:nvSpPr>
          <p:cNvPr id="31" name="Shape 29"/>
          <p:cNvSpPr/>
          <p:nvPr/>
        </p:nvSpPr>
        <p:spPr>
          <a:xfrm>
            <a:off x="4663440" y="4023360"/>
            <a:ext cx="4023360" cy="685800"/>
          </a:xfrm>
          <a:prstGeom prst="roundRect">
            <a:avLst>
              <a:gd name="adj" fmla="val 10667"/>
            </a:avLst>
          </a:prstGeom>
          <a:solidFill>
            <a:srgbClr val="EAE4FB"/>
          </a:solidFill>
          <a:ln w="9525">
            <a:solidFill>
              <a:srgbClr val="D9D0F2"/>
            </a:solidFill>
            <a:prstDash val="solid"/>
          </a:ln>
        </p:spPr>
      </p:sp>
      <p:sp>
        <p:nvSpPr>
          <p:cNvPr id="32" name="Text 30"/>
          <p:cNvSpPr txBox="1"/>
          <p:nvPr/>
        </p:nvSpPr>
        <p:spPr>
          <a:xfrm>
            <a:off x="4800600" y="4023360"/>
            <a:ext cx="3749040" cy="685800"/>
          </a:xfrm>
          <a:prstGeom prst="rect">
            <a:avLst/>
          </a:prstGeom>
          <a:noFill/>
          <a:ln/>
        </p:spPr>
        <p:txBody>
          <a:bodyPr wrap="square" lIns="0" tIns="0" rIns="0" bIns="0" rtlCol="0" anchor="ctr"/>
          <a:lstStyle/>
          <a:p>
            <a:pPr marL="0" indent="0">
              <a:buNone/>
            </a:pPr>
            <a:r>
              <a:rPr lang="en-US" sz="1300" b="1" dirty="0">
                <a:solidFill>
                  <a:srgbClr val="0F766E"/>
                </a:solidFill>
                <a:latin typeface="Calibri" pitchFamily="34" charset="0"/>
                <a:ea typeface="Calibri" pitchFamily="34" charset="-122"/>
                <a:cs typeface="Calibri" pitchFamily="34" charset="-120"/>
              </a:rPr>
              <a:t>Why DP?  </a:t>
            </a:r>
            <a:r>
              <a:rPr lang="en-US" sz="1300" dirty="0">
                <a:solidFill>
                  <a:srgbClr val="2B2A4C"/>
                </a:solidFill>
                <a:latin typeface="Calibri" pitchFamily="34" charset="0"/>
                <a:ea typeface="Calibri" pitchFamily="34" charset="-122"/>
                <a:cs typeface="Calibri" pitchFamily="34" charset="-120"/>
              </a:rPr>
              <a:t>It avoids re-solving the same subproblems by storing previously calculated states.</a:t>
            </a:r>
            <a:endParaRPr lang="en-US" sz="1300" dirty="0"/>
          </a:p>
        </p:txBody>
      </p:sp>
      <p:sp>
        <p:nvSpPr>
          <p:cNvPr id="33"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rgbClr val="2B2A4C"/>
                </a:solidFill>
              </a:rPr>
              <a:t>See the Algorithm Think</a:t>
            </a:r>
            <a:endParaRPr lang="en-US" sz="3400" dirty="0"/>
          </a:p>
        </p:txBody>
      </p:sp>
      <p:sp>
        <p:nvSpPr>
          <p:cNvPr id="3" name="Shape 1"/>
          <p:cNvSpPr/>
          <p:nvPr/>
        </p:nvSpPr>
        <p:spPr>
          <a:xfrm>
            <a:off x="457200" y="1097280"/>
            <a:ext cx="2148840" cy="2697480"/>
          </a:xfrm>
          <a:prstGeom prst="roundRect">
            <a:avLst>
              <a:gd name="adj" fmla="val 3404"/>
            </a:avLst>
          </a:prstGeom>
          <a:solidFill>
            <a:srgbClr val="FFFFFF"/>
          </a:solidFill>
          <a:ln w="9525">
            <a:solidFill>
              <a:srgbClr val="D9D0F2"/>
            </a:solidFill>
            <a:prstDash val="solid"/>
          </a:ln>
        </p:spPr>
      </p:sp>
      <p:sp>
        <p:nvSpPr>
          <p:cNvPr id="4" name="Text 2"/>
          <p:cNvSpPr txBox="1"/>
          <p:nvPr/>
        </p:nvSpPr>
        <p:spPr>
          <a:xfrm>
            <a:off x="594360" y="1188720"/>
            <a:ext cx="182880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① INPUT</a:t>
            </a:r>
            <a:endParaRPr lang="en-US" sz="1100" dirty="0"/>
          </a:p>
        </p:txBody>
      </p:sp>
      <p:sp>
        <p:nvSpPr>
          <p:cNvPr id="5" name="Text 3"/>
          <p:cNvSpPr txBox="1"/>
          <p:nvPr/>
        </p:nvSpPr>
        <p:spPr>
          <a:xfrm>
            <a:off x="594360" y="1554480"/>
            <a:ext cx="1828800" cy="228600"/>
          </a:xfrm>
          <a:prstGeom prst="rect">
            <a:avLst/>
          </a:prstGeom>
          <a:noFill/>
          <a:ln/>
        </p:spPr>
        <p:txBody>
          <a:bodyPr wrap="square" lIns="0" tIns="0" rIns="0" bIns="0" rtlCol="0" anchor="t"/>
          <a:lstStyle/>
          <a:p>
            <a:pPr marL="0" indent="0">
              <a:buNone/>
            </a:pPr>
            <a:r>
              <a:rPr lang="en-US" sz="1100" dirty="0">
                <a:solidFill>
                  <a:srgbClr val="6B6890"/>
                </a:solidFill>
                <a:latin typeface="Calibri" pitchFamily="34" charset="0"/>
                <a:ea typeface="Calibri" pitchFamily="34" charset="-122"/>
                <a:cs typeface="Calibri" pitchFamily="34" charset="-120"/>
              </a:rPr>
              <a:t>Sequence A</a:t>
            </a:r>
            <a:endParaRPr lang="en-US" sz="1100" dirty="0"/>
          </a:p>
        </p:txBody>
      </p:sp>
      <p:sp>
        <p:nvSpPr>
          <p:cNvPr id="6" name="Text 4"/>
          <p:cNvSpPr txBox="1"/>
          <p:nvPr/>
        </p:nvSpPr>
        <p:spPr>
          <a:xfrm>
            <a:off x="594360" y="1783080"/>
            <a:ext cx="1920240" cy="320040"/>
          </a:xfrm>
          <a:prstGeom prst="rect">
            <a:avLst/>
          </a:prstGeom>
          <a:noFill/>
          <a:ln/>
        </p:spPr>
        <p:txBody>
          <a:bodyPr wrap="square" lIns="0" tIns="0" rIns="0" bIns="0" rtlCol="0" anchor="t"/>
          <a:lstStyle/>
          <a:p>
            <a:pPr marL="0" indent="0">
              <a:buNone/>
            </a:pPr>
            <a:r>
              <a:rPr lang="en-US" sz="1600" b="1" dirty="0">
                <a:solidFill>
                  <a:srgbClr val="0F766E"/>
                </a:solidFill>
                <a:latin typeface="Courier New" pitchFamily="34" charset="0"/>
                <a:ea typeface="Courier New" pitchFamily="34" charset="-122"/>
                <a:cs typeface="Courier New" pitchFamily="34" charset="-120"/>
              </a:rPr>
              <a:t>ACGTTAGCA</a:t>
            </a:r>
            <a:endParaRPr lang="en-US" sz="1600" dirty="0"/>
          </a:p>
        </p:txBody>
      </p:sp>
      <p:sp>
        <p:nvSpPr>
          <p:cNvPr id="7" name="Text 5"/>
          <p:cNvSpPr txBox="1"/>
          <p:nvPr/>
        </p:nvSpPr>
        <p:spPr>
          <a:xfrm>
            <a:off x="594360" y="2286000"/>
            <a:ext cx="1828800" cy="228600"/>
          </a:xfrm>
          <a:prstGeom prst="rect">
            <a:avLst/>
          </a:prstGeom>
          <a:noFill/>
          <a:ln/>
        </p:spPr>
        <p:txBody>
          <a:bodyPr wrap="square" lIns="0" tIns="0" rIns="0" bIns="0" rtlCol="0" anchor="t"/>
          <a:lstStyle/>
          <a:p>
            <a:pPr marL="0" indent="0">
              <a:buNone/>
            </a:pPr>
            <a:r>
              <a:rPr lang="en-US" sz="1100" dirty="0">
                <a:solidFill>
                  <a:srgbClr val="6B6890"/>
                </a:solidFill>
                <a:latin typeface="Calibri" pitchFamily="34" charset="0"/>
                <a:ea typeface="Calibri" pitchFamily="34" charset="-122"/>
                <a:cs typeface="Calibri" pitchFamily="34" charset="-120"/>
              </a:rPr>
              <a:t>Sequence B</a:t>
            </a:r>
            <a:endParaRPr lang="en-US" sz="1100" dirty="0"/>
          </a:p>
        </p:txBody>
      </p:sp>
      <p:sp>
        <p:nvSpPr>
          <p:cNvPr id="8" name="Text 6"/>
          <p:cNvSpPr txBox="1"/>
          <p:nvPr/>
        </p:nvSpPr>
        <p:spPr>
          <a:xfrm>
            <a:off x="594360" y="2514600"/>
            <a:ext cx="1920240" cy="320040"/>
          </a:xfrm>
          <a:prstGeom prst="rect">
            <a:avLst/>
          </a:prstGeom>
          <a:noFill/>
          <a:ln/>
        </p:spPr>
        <p:txBody>
          <a:bodyPr wrap="square" lIns="0" tIns="0" rIns="0" bIns="0" rtlCol="0" anchor="t"/>
          <a:lstStyle/>
          <a:p>
            <a:pPr marL="0" indent="0">
              <a:buNone/>
            </a:pPr>
            <a:r>
              <a:rPr lang="en-US" sz="1600" b="1" dirty="0">
                <a:solidFill>
                  <a:srgbClr val="6B46C1"/>
                </a:solidFill>
                <a:latin typeface="Courier New" pitchFamily="34" charset="0"/>
                <a:ea typeface="Courier New" pitchFamily="34" charset="-122"/>
                <a:cs typeface="Courier New" pitchFamily="34" charset="-120"/>
              </a:rPr>
              <a:t>ACTTAGCA</a:t>
            </a:r>
            <a:endParaRPr lang="en-US" sz="1600" dirty="0"/>
          </a:p>
        </p:txBody>
      </p:sp>
      <p:sp>
        <p:nvSpPr>
          <p:cNvPr id="9" name="Shape 7"/>
          <p:cNvSpPr/>
          <p:nvPr/>
        </p:nvSpPr>
        <p:spPr>
          <a:xfrm>
            <a:off x="594360" y="3108960"/>
            <a:ext cx="1874520" cy="457200"/>
          </a:xfrm>
          <a:prstGeom prst="roundRect">
            <a:avLst>
              <a:gd name="adj" fmla="val 12000"/>
            </a:avLst>
          </a:prstGeom>
          <a:solidFill>
            <a:srgbClr val="86DCCB"/>
          </a:solidFill>
          <a:ln w="9525">
            <a:solidFill>
              <a:srgbClr val="86DCCB"/>
            </a:solidFill>
            <a:prstDash val="solid"/>
          </a:ln>
        </p:spPr>
      </p:sp>
      <p:sp>
        <p:nvSpPr>
          <p:cNvPr id="10" name="Text 8"/>
          <p:cNvSpPr txBox="1"/>
          <p:nvPr/>
        </p:nvSpPr>
        <p:spPr>
          <a:xfrm>
            <a:off x="594360" y="3108960"/>
            <a:ext cx="1874520" cy="457200"/>
          </a:xfrm>
          <a:prstGeom prst="rect">
            <a:avLst/>
          </a:prstGeom>
          <a:noFill/>
          <a:ln/>
        </p:spPr>
        <p:txBody>
          <a:bodyPr wrap="square" lIns="0" tIns="0" rIns="0" bIns="0" rtlCol="0" anchor="ctr"/>
          <a:lstStyle/>
          <a:p>
            <a:pPr marL="0" indent="0" algn="ctr">
              <a:buNone/>
            </a:pPr>
            <a:r>
              <a:rPr lang="en-US" sz="1300" b="1" dirty="0">
                <a:solidFill>
                  <a:srgbClr val="2B2A4C"/>
                </a:solidFill>
                <a:latin typeface="Calibri" pitchFamily="34" charset="0"/>
                <a:ea typeface="Calibri" pitchFamily="34" charset="-122"/>
                <a:cs typeface="Calibri" pitchFamily="34" charset="-120"/>
              </a:rPr>
              <a:t>Run comparison</a:t>
            </a:r>
            <a:endParaRPr lang="en-US" sz="1300" dirty="0"/>
          </a:p>
        </p:txBody>
      </p:sp>
      <p:sp>
        <p:nvSpPr>
          <p:cNvPr id="11" name="Shape 9"/>
          <p:cNvSpPr/>
          <p:nvPr/>
        </p:nvSpPr>
        <p:spPr>
          <a:xfrm>
            <a:off x="2743200" y="1097280"/>
            <a:ext cx="3383280" cy="2697480"/>
          </a:xfrm>
          <a:prstGeom prst="roundRect">
            <a:avLst>
              <a:gd name="adj" fmla="val 2712"/>
            </a:avLst>
          </a:prstGeom>
          <a:solidFill>
            <a:srgbClr val="FFFFFF"/>
          </a:solidFill>
          <a:ln w="9525">
            <a:solidFill>
              <a:srgbClr val="D9D0F2"/>
            </a:solidFill>
            <a:prstDash val="solid"/>
          </a:ln>
        </p:spPr>
      </p:sp>
      <p:sp>
        <p:nvSpPr>
          <p:cNvPr id="12" name="Text 10"/>
          <p:cNvSpPr txBox="1"/>
          <p:nvPr/>
        </p:nvSpPr>
        <p:spPr>
          <a:xfrm>
            <a:off x="2880360" y="1188720"/>
            <a:ext cx="310896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② DP MATRIX + TRACEBACK</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2880360" y="1463040"/>
          <a:ext cx="6858000" cy="914400"/>
        </p:xfrm>
        <a:graphic>
          <a:graphicData uri="http://schemas.openxmlformats.org/drawingml/2006/table">
            <a:tbl>
              <a:tblPr/>
              <a:tblGrid>
                <a:gridCol w="310896">
                  <a:extLst>
                    <a:ext uri="{9D8B030D-6E8A-4147-A177-3AD203B41FA5}">
                      <a16:colId xmlns:a16="http://schemas.microsoft.com/office/drawing/2014/main" val="20000"/>
                    </a:ext>
                  </a:extLst>
                </a:gridCol>
                <a:gridCol w="310896">
                  <a:extLst>
                    <a:ext uri="{9D8B030D-6E8A-4147-A177-3AD203B41FA5}">
                      <a16:colId xmlns:a16="http://schemas.microsoft.com/office/drawing/2014/main" val="20001"/>
                    </a:ext>
                  </a:extLst>
                </a:gridCol>
                <a:gridCol w="310896">
                  <a:extLst>
                    <a:ext uri="{9D8B030D-6E8A-4147-A177-3AD203B41FA5}">
                      <a16:colId xmlns:a16="http://schemas.microsoft.com/office/drawing/2014/main" val="20002"/>
                    </a:ext>
                  </a:extLst>
                </a:gridCol>
                <a:gridCol w="310896">
                  <a:extLst>
                    <a:ext uri="{9D8B030D-6E8A-4147-A177-3AD203B41FA5}">
                      <a16:colId xmlns:a16="http://schemas.microsoft.com/office/drawing/2014/main" val="20003"/>
                    </a:ext>
                  </a:extLst>
                </a:gridCol>
                <a:gridCol w="310896">
                  <a:extLst>
                    <a:ext uri="{9D8B030D-6E8A-4147-A177-3AD203B41FA5}">
                      <a16:colId xmlns:a16="http://schemas.microsoft.com/office/drawing/2014/main" val="20004"/>
                    </a:ext>
                  </a:extLst>
                </a:gridCol>
                <a:gridCol w="310896">
                  <a:extLst>
                    <a:ext uri="{9D8B030D-6E8A-4147-A177-3AD203B41FA5}">
                      <a16:colId xmlns:a16="http://schemas.microsoft.com/office/drawing/2014/main" val="20005"/>
                    </a:ext>
                  </a:extLst>
                </a:gridCol>
                <a:gridCol w="310896">
                  <a:extLst>
                    <a:ext uri="{9D8B030D-6E8A-4147-A177-3AD203B41FA5}">
                      <a16:colId xmlns:a16="http://schemas.microsoft.com/office/drawing/2014/main" val="20006"/>
                    </a:ext>
                  </a:extLst>
                </a:gridCol>
                <a:gridCol w="310896">
                  <a:extLst>
                    <a:ext uri="{9D8B030D-6E8A-4147-A177-3AD203B41FA5}">
                      <a16:colId xmlns:a16="http://schemas.microsoft.com/office/drawing/2014/main" val="20007"/>
                    </a:ext>
                  </a:extLst>
                </a:gridCol>
                <a:gridCol w="310896">
                  <a:extLst>
                    <a:ext uri="{9D8B030D-6E8A-4147-A177-3AD203B41FA5}">
                      <a16:colId xmlns:a16="http://schemas.microsoft.com/office/drawing/2014/main" val="20008"/>
                    </a:ext>
                  </a:extLst>
                </a:gridCol>
                <a:gridCol w="310896">
                  <a:extLst>
                    <a:ext uri="{9D8B030D-6E8A-4147-A177-3AD203B41FA5}">
                      <a16:colId xmlns:a16="http://schemas.microsoft.com/office/drawing/2014/main" val="20009"/>
                    </a:ext>
                  </a:extLst>
                </a:gridCol>
              </a:tblGrid>
              <a:tr h="205740">
                <a:tc>
                  <a:txBody>
                    <a:bodyPr/>
                    <a:lstStyle/>
                    <a:p>
                      <a:pPr marL="0" indent="0" algn="ctr">
                        <a:buNone/>
                      </a:pP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ε</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T</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T</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G</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ε</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1"/>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DCC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2"/>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DCC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3"/>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G</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BA6F5"/>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4"/>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T</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DCC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5"/>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T</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DCC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6"/>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DCC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7"/>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G</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DCC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8"/>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C</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DCC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extLst>
                  <a:ext uri="{0D108BD9-81ED-4DB2-BD59-A6C34878D82A}">
                    <a16:rowId xmlns:a16="http://schemas.microsoft.com/office/drawing/2014/main" val="10009"/>
                  </a:ext>
                </a:extLst>
              </a:tr>
              <a:tr h="205740">
                <a:tc>
                  <a:txBody>
                    <a:bodyPr/>
                    <a:lstStyle/>
                    <a:p>
                      <a:pPr marL="0" indent="0" algn="ctr">
                        <a:buNone/>
                      </a:pPr>
                      <a:r>
                        <a:rPr lang="en-US" sz="1000" b="1" dirty="0">
                          <a:solidFill>
                            <a:srgbClr val="6B46C1"/>
                          </a:solidFill>
                          <a:latin typeface="Calibri" pitchFamily="34" charset="0"/>
                          <a:ea typeface="Calibri" pitchFamily="34" charset="-122"/>
                          <a:cs typeface="Calibri" pitchFamily="34" charset="-120"/>
                        </a:rPr>
                        <a:t>A</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dirty="0">
                          <a:solidFill>
                            <a:srgbClr val="4A487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4FB"/>
                    </a:solidFill>
                  </a:tcPr>
                </a:tc>
                <a:tc>
                  <a:txBody>
                    <a:bodyPr/>
                    <a:lstStyle/>
                    <a:p>
                      <a:pPr marL="0" indent="0" algn="ctr">
                        <a:buNone/>
                      </a:pPr>
                      <a:r>
                        <a:rPr lang="en-US" sz="1000" b="1" dirty="0">
                          <a:solidFill>
                            <a:srgbClr val="2B2A4C"/>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6DCCB"/>
                    </a:solidFill>
                  </a:tcPr>
                </a:tc>
                <a:extLst>
                  <a:ext uri="{0D108BD9-81ED-4DB2-BD59-A6C34878D82A}">
                    <a16:rowId xmlns:a16="http://schemas.microsoft.com/office/drawing/2014/main" val="10010"/>
                  </a:ext>
                </a:extLst>
              </a:tr>
            </a:tbl>
          </a:graphicData>
        </a:graphic>
      </p:graphicFrame>
      <p:sp>
        <p:nvSpPr>
          <p:cNvPr id="14" name="Shape 11"/>
          <p:cNvSpPr/>
          <p:nvPr/>
        </p:nvSpPr>
        <p:spPr>
          <a:xfrm>
            <a:off x="6263640" y="1097280"/>
            <a:ext cx="2423160" cy="2697480"/>
          </a:xfrm>
          <a:prstGeom prst="roundRect">
            <a:avLst>
              <a:gd name="adj" fmla="val 3019"/>
            </a:avLst>
          </a:prstGeom>
          <a:solidFill>
            <a:srgbClr val="FFFFFF"/>
          </a:solidFill>
          <a:ln w="9525">
            <a:solidFill>
              <a:srgbClr val="D9D0F2"/>
            </a:solidFill>
            <a:prstDash val="solid"/>
          </a:ln>
        </p:spPr>
      </p:sp>
      <p:sp>
        <p:nvSpPr>
          <p:cNvPr id="15" name="Text 12"/>
          <p:cNvSpPr txBox="1"/>
          <p:nvPr/>
        </p:nvSpPr>
        <p:spPr>
          <a:xfrm>
            <a:off x="6400800" y="1188720"/>
            <a:ext cx="210312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③ RESULT</a:t>
            </a:r>
            <a:endParaRPr lang="en-US" sz="1100" dirty="0"/>
          </a:p>
        </p:txBody>
      </p:sp>
      <p:sp>
        <p:nvSpPr>
          <p:cNvPr id="16" name="Text 13"/>
          <p:cNvSpPr txBox="1"/>
          <p:nvPr/>
        </p:nvSpPr>
        <p:spPr>
          <a:xfrm>
            <a:off x="6400800" y="1508760"/>
            <a:ext cx="2194560" cy="201168"/>
          </a:xfrm>
          <a:prstGeom prst="rect">
            <a:avLst/>
          </a:prstGeom>
          <a:noFill/>
          <a:ln/>
        </p:spPr>
        <p:txBody>
          <a:bodyPr wrap="square" lIns="0" tIns="0" rIns="0" bIns="0" rtlCol="0" anchor="t"/>
          <a:lstStyle/>
          <a:p>
            <a:pPr marL="0" indent="0">
              <a:buNone/>
            </a:pPr>
            <a:r>
              <a:rPr lang="en-US" sz="1100" dirty="0">
                <a:solidFill>
                  <a:srgbClr val="6B6890"/>
                </a:solidFill>
                <a:latin typeface="Calibri" pitchFamily="34" charset="0"/>
                <a:ea typeface="Calibri" pitchFamily="34" charset="-122"/>
                <a:cs typeface="Calibri" pitchFamily="34" charset="-120"/>
              </a:rPr>
              <a:t>Longest Common Subsequence</a:t>
            </a:r>
            <a:endParaRPr lang="en-US" sz="1100" dirty="0"/>
          </a:p>
        </p:txBody>
      </p:sp>
      <p:sp>
        <p:nvSpPr>
          <p:cNvPr id="17" name="Text 14"/>
          <p:cNvSpPr txBox="1"/>
          <p:nvPr/>
        </p:nvSpPr>
        <p:spPr>
          <a:xfrm>
            <a:off x="6400800" y="1719072"/>
            <a:ext cx="2194560" cy="320040"/>
          </a:xfrm>
          <a:prstGeom prst="rect">
            <a:avLst/>
          </a:prstGeom>
          <a:noFill/>
          <a:ln/>
        </p:spPr>
        <p:txBody>
          <a:bodyPr wrap="square" lIns="0" tIns="0" rIns="0" bIns="0" rtlCol="0" anchor="t"/>
          <a:lstStyle/>
          <a:p>
            <a:pPr marL="0" indent="0">
              <a:buNone/>
            </a:pPr>
            <a:r>
              <a:rPr lang="en-US" sz="1700" b="1" dirty="0">
                <a:solidFill>
                  <a:srgbClr val="0F766E"/>
                </a:solidFill>
                <a:latin typeface="Courier New" pitchFamily="34" charset="0"/>
                <a:ea typeface="Courier New" pitchFamily="34" charset="-122"/>
                <a:cs typeface="Courier New" pitchFamily="34" charset="-120"/>
              </a:rPr>
              <a:t>ACTTAGCA</a:t>
            </a:r>
            <a:endParaRPr lang="en-US" sz="1700" dirty="0"/>
          </a:p>
        </p:txBody>
      </p:sp>
      <p:sp>
        <p:nvSpPr>
          <p:cNvPr id="18" name="Text 15"/>
          <p:cNvSpPr txBox="1"/>
          <p:nvPr/>
        </p:nvSpPr>
        <p:spPr>
          <a:xfrm>
            <a:off x="6400800" y="2148840"/>
            <a:ext cx="1188720" cy="292608"/>
          </a:xfrm>
          <a:prstGeom prst="rect">
            <a:avLst/>
          </a:prstGeom>
          <a:noFill/>
          <a:ln/>
        </p:spPr>
        <p:txBody>
          <a:bodyPr wrap="square" lIns="0" tIns="0" rIns="0" bIns="0" rtlCol="0" anchor="ctr"/>
          <a:lstStyle/>
          <a:p>
            <a:pPr marL="0" indent="0">
              <a:buNone/>
            </a:pPr>
            <a:r>
              <a:rPr lang="en-US" sz="1300" dirty="0">
                <a:solidFill>
                  <a:srgbClr val="4A4870"/>
                </a:solidFill>
                <a:latin typeface="Calibri" pitchFamily="34" charset="0"/>
                <a:ea typeface="Calibri" pitchFamily="34" charset="-122"/>
                <a:cs typeface="Calibri" pitchFamily="34" charset="-120"/>
              </a:rPr>
              <a:t>LCS Length</a:t>
            </a:r>
            <a:endParaRPr lang="en-US" sz="1300" dirty="0"/>
          </a:p>
        </p:txBody>
      </p:sp>
      <p:sp>
        <p:nvSpPr>
          <p:cNvPr id="19" name="Text 16"/>
          <p:cNvSpPr txBox="1"/>
          <p:nvPr/>
        </p:nvSpPr>
        <p:spPr>
          <a:xfrm>
            <a:off x="7498080" y="2148840"/>
            <a:ext cx="1051560" cy="292608"/>
          </a:xfrm>
          <a:prstGeom prst="rect">
            <a:avLst/>
          </a:prstGeom>
          <a:noFill/>
          <a:ln/>
        </p:spPr>
        <p:txBody>
          <a:bodyPr wrap="square" lIns="0" tIns="0" rIns="0" bIns="0" rtlCol="0" anchor="ctr"/>
          <a:lstStyle/>
          <a:p>
            <a:pPr marL="0" indent="0" algn="r">
              <a:buNone/>
            </a:pPr>
            <a:r>
              <a:rPr lang="en-US" sz="1500" b="1" dirty="0">
                <a:solidFill>
                  <a:srgbClr val="2B2A4C"/>
                </a:solidFill>
                <a:latin typeface="Calibri" pitchFamily="34" charset="0"/>
                <a:ea typeface="Calibri" pitchFamily="34" charset="-122"/>
                <a:cs typeface="Calibri" pitchFamily="34" charset="-120"/>
              </a:rPr>
              <a:t>8</a:t>
            </a:r>
            <a:endParaRPr lang="en-US" sz="1500" dirty="0"/>
          </a:p>
        </p:txBody>
      </p:sp>
      <p:sp>
        <p:nvSpPr>
          <p:cNvPr id="20" name="Text 17"/>
          <p:cNvSpPr txBox="1"/>
          <p:nvPr/>
        </p:nvSpPr>
        <p:spPr>
          <a:xfrm>
            <a:off x="6400800" y="2496312"/>
            <a:ext cx="1188720" cy="292608"/>
          </a:xfrm>
          <a:prstGeom prst="rect">
            <a:avLst/>
          </a:prstGeom>
          <a:noFill/>
          <a:ln/>
        </p:spPr>
        <p:txBody>
          <a:bodyPr wrap="square" lIns="0" tIns="0" rIns="0" bIns="0" rtlCol="0" anchor="ctr"/>
          <a:lstStyle/>
          <a:p>
            <a:pPr marL="0" indent="0">
              <a:buNone/>
            </a:pPr>
            <a:r>
              <a:rPr lang="en-US" sz="1300" dirty="0">
                <a:solidFill>
                  <a:srgbClr val="4A4870"/>
                </a:solidFill>
                <a:latin typeface="Calibri" pitchFamily="34" charset="0"/>
                <a:ea typeface="Calibri" pitchFamily="34" charset="-122"/>
                <a:cs typeface="Calibri" pitchFamily="34" charset="-120"/>
              </a:rPr>
              <a:t>Similarity</a:t>
            </a:r>
            <a:endParaRPr lang="en-US" sz="1300" dirty="0"/>
          </a:p>
        </p:txBody>
      </p:sp>
      <p:sp>
        <p:nvSpPr>
          <p:cNvPr id="21" name="Text 18"/>
          <p:cNvSpPr txBox="1"/>
          <p:nvPr/>
        </p:nvSpPr>
        <p:spPr>
          <a:xfrm>
            <a:off x="7498080" y="2496312"/>
            <a:ext cx="1051560" cy="292608"/>
          </a:xfrm>
          <a:prstGeom prst="rect">
            <a:avLst/>
          </a:prstGeom>
          <a:noFill/>
          <a:ln/>
        </p:spPr>
        <p:txBody>
          <a:bodyPr wrap="square" lIns="0" tIns="0" rIns="0" bIns="0" rtlCol="0" anchor="ctr"/>
          <a:lstStyle/>
          <a:p>
            <a:pPr marL="0" indent="0" algn="r">
              <a:buNone/>
            </a:pPr>
            <a:r>
              <a:rPr lang="en-US" sz="1500" b="1" dirty="0">
                <a:solidFill>
                  <a:srgbClr val="6B46C1"/>
                </a:solidFill>
                <a:latin typeface="Calibri" pitchFamily="34" charset="0"/>
                <a:ea typeface="Calibri" pitchFamily="34" charset="-122"/>
                <a:cs typeface="Calibri" pitchFamily="34" charset="-120"/>
              </a:rPr>
              <a:t>94.1%</a:t>
            </a:r>
            <a:endParaRPr lang="en-US" sz="1500" dirty="0"/>
          </a:p>
        </p:txBody>
      </p:sp>
      <p:sp>
        <p:nvSpPr>
          <p:cNvPr id="22" name="Text 19"/>
          <p:cNvSpPr txBox="1"/>
          <p:nvPr/>
        </p:nvSpPr>
        <p:spPr>
          <a:xfrm>
            <a:off x="6400800" y="2843784"/>
            <a:ext cx="1188720" cy="292608"/>
          </a:xfrm>
          <a:prstGeom prst="rect">
            <a:avLst/>
          </a:prstGeom>
          <a:noFill/>
          <a:ln/>
        </p:spPr>
        <p:txBody>
          <a:bodyPr wrap="square" lIns="0" tIns="0" rIns="0" bIns="0" rtlCol="0" anchor="ctr"/>
          <a:lstStyle/>
          <a:p>
            <a:pPr marL="0" indent="0">
              <a:buNone/>
            </a:pPr>
            <a:r>
              <a:rPr lang="en-US" sz="1300" dirty="0">
                <a:solidFill>
                  <a:srgbClr val="4A4870"/>
                </a:solidFill>
                <a:latin typeface="Calibri" pitchFamily="34" charset="0"/>
                <a:ea typeface="Calibri" pitchFamily="34" charset="-122"/>
                <a:cs typeface="Calibri" pitchFamily="34" charset="-120"/>
              </a:rPr>
              <a:t>Coverage A</a:t>
            </a:r>
            <a:endParaRPr lang="en-US" sz="1300" dirty="0"/>
          </a:p>
        </p:txBody>
      </p:sp>
      <p:sp>
        <p:nvSpPr>
          <p:cNvPr id="23" name="Text 20"/>
          <p:cNvSpPr txBox="1"/>
          <p:nvPr/>
        </p:nvSpPr>
        <p:spPr>
          <a:xfrm>
            <a:off x="7498080" y="2843784"/>
            <a:ext cx="1051560" cy="292608"/>
          </a:xfrm>
          <a:prstGeom prst="rect">
            <a:avLst/>
          </a:prstGeom>
          <a:noFill/>
          <a:ln/>
        </p:spPr>
        <p:txBody>
          <a:bodyPr wrap="square" lIns="0" tIns="0" rIns="0" bIns="0" rtlCol="0" anchor="ctr"/>
          <a:lstStyle/>
          <a:p>
            <a:pPr marL="0" indent="0" algn="r">
              <a:buNone/>
            </a:pPr>
            <a:r>
              <a:rPr lang="en-US" sz="1500" b="1" dirty="0">
                <a:solidFill>
                  <a:srgbClr val="2B2A4C"/>
                </a:solidFill>
                <a:latin typeface="Calibri" pitchFamily="34" charset="0"/>
                <a:ea typeface="Calibri" pitchFamily="34" charset="-122"/>
                <a:cs typeface="Calibri" pitchFamily="34" charset="-120"/>
              </a:rPr>
              <a:t>88.9%</a:t>
            </a:r>
            <a:endParaRPr lang="en-US" sz="1500" dirty="0"/>
          </a:p>
        </p:txBody>
      </p:sp>
      <p:sp>
        <p:nvSpPr>
          <p:cNvPr id="24" name="Text 21"/>
          <p:cNvSpPr txBox="1"/>
          <p:nvPr/>
        </p:nvSpPr>
        <p:spPr>
          <a:xfrm>
            <a:off x="6400800" y="3191256"/>
            <a:ext cx="1188720" cy="292608"/>
          </a:xfrm>
          <a:prstGeom prst="rect">
            <a:avLst/>
          </a:prstGeom>
          <a:noFill/>
          <a:ln/>
        </p:spPr>
        <p:txBody>
          <a:bodyPr wrap="square" lIns="0" tIns="0" rIns="0" bIns="0" rtlCol="0" anchor="ctr"/>
          <a:lstStyle/>
          <a:p>
            <a:pPr marL="0" indent="0">
              <a:buNone/>
            </a:pPr>
            <a:r>
              <a:rPr lang="en-US" sz="1300" dirty="0">
                <a:solidFill>
                  <a:srgbClr val="4A4870"/>
                </a:solidFill>
                <a:latin typeface="Calibri" pitchFamily="34" charset="0"/>
                <a:ea typeface="Calibri" pitchFamily="34" charset="-122"/>
                <a:cs typeface="Calibri" pitchFamily="34" charset="-120"/>
              </a:rPr>
              <a:t>Coverage B</a:t>
            </a:r>
            <a:endParaRPr lang="en-US" sz="1300" dirty="0"/>
          </a:p>
        </p:txBody>
      </p:sp>
      <p:sp>
        <p:nvSpPr>
          <p:cNvPr id="25" name="Text 22"/>
          <p:cNvSpPr txBox="1"/>
          <p:nvPr/>
        </p:nvSpPr>
        <p:spPr>
          <a:xfrm>
            <a:off x="7498080" y="3191256"/>
            <a:ext cx="1051560" cy="292608"/>
          </a:xfrm>
          <a:prstGeom prst="rect">
            <a:avLst/>
          </a:prstGeom>
          <a:noFill/>
          <a:ln/>
        </p:spPr>
        <p:txBody>
          <a:bodyPr wrap="square" lIns="0" tIns="0" rIns="0" bIns="0" rtlCol="0" anchor="ctr"/>
          <a:lstStyle/>
          <a:p>
            <a:pPr marL="0" indent="0" algn="r">
              <a:buNone/>
            </a:pPr>
            <a:r>
              <a:rPr lang="en-US" sz="1500" b="1" dirty="0">
                <a:solidFill>
                  <a:srgbClr val="6B46C1"/>
                </a:solidFill>
                <a:latin typeface="Calibri" pitchFamily="34" charset="0"/>
                <a:ea typeface="Calibri" pitchFamily="34" charset="-122"/>
                <a:cs typeface="Calibri" pitchFamily="34" charset="-120"/>
              </a:rPr>
              <a:t>100.0%</a:t>
            </a:r>
            <a:endParaRPr lang="en-US" sz="1500" dirty="0"/>
          </a:p>
        </p:txBody>
      </p:sp>
      <p:sp>
        <p:nvSpPr>
          <p:cNvPr id="26" name="Text 23"/>
          <p:cNvSpPr txBox="1"/>
          <p:nvPr/>
        </p:nvSpPr>
        <p:spPr>
          <a:xfrm>
            <a:off x="6400800" y="3547872"/>
            <a:ext cx="2194560" cy="201168"/>
          </a:xfrm>
          <a:prstGeom prst="rect">
            <a:avLst/>
          </a:prstGeom>
          <a:noFill/>
          <a:ln/>
        </p:spPr>
        <p:txBody>
          <a:bodyPr wrap="square" lIns="0" tIns="0" rIns="0" bIns="0" rtlCol="0" anchor="t"/>
          <a:lstStyle/>
          <a:p>
            <a:pPr marL="0" indent="0">
              <a:buNone/>
            </a:pPr>
            <a:r>
              <a:rPr lang="en-US" sz="1000" i="1" dirty="0">
                <a:solidFill>
                  <a:srgbClr val="6B6890"/>
                </a:solidFill>
                <a:latin typeface="Calibri" pitchFamily="34" charset="0"/>
                <a:ea typeface="Calibri" pitchFamily="34" charset="-122"/>
                <a:cs typeface="Calibri" pitchFamily="34" charset="-120"/>
              </a:rPr>
              <a:t>Similarity = 2·LCS / (m + n)</a:t>
            </a:r>
            <a:endParaRPr lang="en-US" sz="1000" dirty="0"/>
          </a:p>
        </p:txBody>
      </p:sp>
      <p:sp>
        <p:nvSpPr>
          <p:cNvPr id="27" name="Shape 24"/>
          <p:cNvSpPr/>
          <p:nvPr/>
        </p:nvSpPr>
        <p:spPr>
          <a:xfrm>
            <a:off x="457200" y="3931920"/>
            <a:ext cx="1993392" cy="566928"/>
          </a:xfrm>
          <a:prstGeom prst="roundRect">
            <a:avLst>
              <a:gd name="adj" fmla="val 12903"/>
            </a:avLst>
          </a:prstGeom>
          <a:solidFill>
            <a:srgbClr val="EAE4FB"/>
          </a:solidFill>
          <a:ln w="9525">
            <a:solidFill>
              <a:srgbClr val="D9D0F2"/>
            </a:solidFill>
            <a:prstDash val="solid"/>
          </a:ln>
        </p:spPr>
      </p:sp>
      <p:sp>
        <p:nvSpPr>
          <p:cNvPr id="28" name="Text 25"/>
          <p:cNvSpPr txBox="1"/>
          <p:nvPr/>
        </p:nvSpPr>
        <p:spPr>
          <a:xfrm>
            <a:off x="548640" y="3931920"/>
            <a:ext cx="1828800" cy="566928"/>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Education</a:t>
            </a:r>
            <a:endParaRPr lang="en-US" sz="1400" dirty="0"/>
          </a:p>
          <a:p>
            <a:pPr marL="0" indent="0">
              <a:buNone/>
            </a:pPr>
            <a:r>
              <a:rPr lang="en-US" sz="1000" dirty="0">
                <a:solidFill>
                  <a:srgbClr val="4A4870"/>
                </a:solidFill>
                <a:latin typeface="Calibri" pitchFamily="34" charset="0"/>
                <a:ea typeface="Calibri" pitchFamily="34" charset="-122"/>
                <a:cs typeface="Calibri" pitchFamily="34" charset="-120"/>
              </a:rPr>
              <a:t>Makes DP easier to understand</a:t>
            </a:r>
            <a:endParaRPr lang="en-US" sz="1400" dirty="0"/>
          </a:p>
        </p:txBody>
      </p:sp>
      <p:sp>
        <p:nvSpPr>
          <p:cNvPr id="29" name="Shape 26"/>
          <p:cNvSpPr/>
          <p:nvPr/>
        </p:nvSpPr>
        <p:spPr>
          <a:xfrm>
            <a:off x="2542032" y="3931920"/>
            <a:ext cx="1993392" cy="566928"/>
          </a:xfrm>
          <a:prstGeom prst="roundRect">
            <a:avLst>
              <a:gd name="adj" fmla="val 12903"/>
            </a:avLst>
          </a:prstGeom>
          <a:solidFill>
            <a:srgbClr val="EAE4FB"/>
          </a:solidFill>
          <a:ln w="9525">
            <a:solidFill>
              <a:srgbClr val="D9D0F2"/>
            </a:solidFill>
            <a:prstDash val="solid"/>
          </a:ln>
        </p:spPr>
      </p:sp>
      <p:sp>
        <p:nvSpPr>
          <p:cNvPr id="30" name="Text 27"/>
          <p:cNvSpPr txBox="1"/>
          <p:nvPr/>
        </p:nvSpPr>
        <p:spPr>
          <a:xfrm>
            <a:off x="2633472" y="3931920"/>
            <a:ext cx="1828800" cy="566928"/>
          </a:xfrm>
          <a:prstGeom prst="rect">
            <a:avLst/>
          </a:prstGeom>
          <a:noFill/>
          <a:ln/>
        </p:spPr>
        <p:txBody>
          <a:bodyPr wrap="square" lIns="0" tIns="0" rIns="0" bIns="0" rtlCol="0" anchor="ctr"/>
          <a:lstStyle/>
          <a:p>
            <a:pPr marL="0" indent="0">
              <a:buNone/>
            </a:pPr>
            <a:r>
              <a:rPr lang="en-US" sz="1200" b="1" dirty="0">
                <a:solidFill>
                  <a:srgbClr val="6B46C1"/>
                </a:solidFill>
                <a:latin typeface="Calibri" pitchFamily="34" charset="0"/>
                <a:ea typeface="Calibri" pitchFamily="34" charset="-122"/>
                <a:cs typeface="Calibri" pitchFamily="34" charset="-120"/>
              </a:rPr>
              <a:t>Bioinformatics</a:t>
            </a:r>
            <a:endParaRPr lang="en-US" sz="1400" dirty="0"/>
          </a:p>
          <a:p>
            <a:pPr marL="0" indent="0">
              <a:buNone/>
            </a:pPr>
            <a:r>
              <a:rPr lang="en-US" sz="1000" dirty="0">
                <a:solidFill>
                  <a:srgbClr val="4A4870"/>
                </a:solidFill>
                <a:latin typeface="Calibri" pitchFamily="34" charset="0"/>
                <a:ea typeface="Calibri" pitchFamily="34" charset="-122"/>
                <a:cs typeface="Calibri" pitchFamily="34" charset="-120"/>
              </a:rPr>
              <a:t>Sequence comparison on real data</a:t>
            </a:r>
            <a:endParaRPr lang="en-US" sz="1400" dirty="0"/>
          </a:p>
        </p:txBody>
      </p:sp>
      <p:sp>
        <p:nvSpPr>
          <p:cNvPr id="31" name="Shape 28"/>
          <p:cNvSpPr/>
          <p:nvPr/>
        </p:nvSpPr>
        <p:spPr>
          <a:xfrm>
            <a:off x="4626864" y="3931920"/>
            <a:ext cx="1993392" cy="566928"/>
          </a:xfrm>
          <a:prstGeom prst="roundRect">
            <a:avLst>
              <a:gd name="adj" fmla="val 12903"/>
            </a:avLst>
          </a:prstGeom>
          <a:solidFill>
            <a:srgbClr val="EAE4FB"/>
          </a:solidFill>
          <a:ln w="9525">
            <a:solidFill>
              <a:srgbClr val="D9D0F2"/>
            </a:solidFill>
            <a:prstDash val="solid"/>
          </a:ln>
        </p:spPr>
      </p:sp>
      <p:sp>
        <p:nvSpPr>
          <p:cNvPr id="32" name="Text 29"/>
          <p:cNvSpPr txBox="1"/>
          <p:nvPr/>
        </p:nvSpPr>
        <p:spPr>
          <a:xfrm>
            <a:off x="4718304" y="3931920"/>
            <a:ext cx="1828800" cy="566928"/>
          </a:xfrm>
          <a:prstGeom prst="rect">
            <a:avLst/>
          </a:prstGeom>
          <a:noFill/>
          <a:ln/>
        </p:spPr>
        <p:txBody>
          <a:bodyPr wrap="square" lIns="0" tIns="0" rIns="0" bIns="0" rtlCol="0" anchor="ctr"/>
          <a:lstStyle/>
          <a:p>
            <a:pPr marL="0" indent="0">
              <a:buNone/>
            </a:pPr>
            <a:r>
              <a:rPr lang="en-US" sz="1200" b="1" dirty="0">
                <a:solidFill>
                  <a:srgbClr val="0F766E"/>
                </a:solidFill>
                <a:latin typeface="Calibri" pitchFamily="34" charset="0"/>
                <a:ea typeface="Calibri" pitchFamily="34" charset="-122"/>
                <a:cs typeface="Calibri" pitchFamily="34" charset="-120"/>
              </a:rPr>
              <a:t>Explainability</a:t>
            </a:r>
            <a:endParaRPr lang="en-US" sz="1400" dirty="0"/>
          </a:p>
          <a:p>
            <a:pPr marL="0" indent="0">
              <a:buNone/>
            </a:pPr>
            <a:r>
              <a:rPr lang="en-US" sz="1000" dirty="0">
                <a:solidFill>
                  <a:srgbClr val="4A4870"/>
                </a:solidFill>
                <a:latin typeface="Calibri" pitchFamily="34" charset="0"/>
                <a:ea typeface="Calibri" pitchFamily="34" charset="-122"/>
                <a:cs typeface="Calibri" pitchFamily="34" charset="-120"/>
              </a:rPr>
              <a:t>Makes algorithmic decisions visible</a:t>
            </a:r>
            <a:endParaRPr lang="en-US" sz="1400" dirty="0"/>
          </a:p>
        </p:txBody>
      </p:sp>
      <p:sp>
        <p:nvSpPr>
          <p:cNvPr id="33" name="Shape 30"/>
          <p:cNvSpPr/>
          <p:nvPr/>
        </p:nvSpPr>
        <p:spPr>
          <a:xfrm>
            <a:off x="6711696" y="3931920"/>
            <a:ext cx="1993392" cy="566928"/>
          </a:xfrm>
          <a:prstGeom prst="roundRect">
            <a:avLst>
              <a:gd name="adj" fmla="val 12903"/>
            </a:avLst>
          </a:prstGeom>
          <a:solidFill>
            <a:srgbClr val="EAE4FB"/>
          </a:solidFill>
          <a:ln w="9525">
            <a:solidFill>
              <a:srgbClr val="D9D0F2"/>
            </a:solidFill>
            <a:prstDash val="solid"/>
          </a:ln>
        </p:spPr>
      </p:sp>
      <p:sp>
        <p:nvSpPr>
          <p:cNvPr id="34" name="Text 31"/>
          <p:cNvSpPr txBox="1"/>
          <p:nvPr/>
        </p:nvSpPr>
        <p:spPr>
          <a:xfrm>
            <a:off x="6803136" y="3931920"/>
            <a:ext cx="1828800" cy="566928"/>
          </a:xfrm>
          <a:prstGeom prst="rect">
            <a:avLst/>
          </a:prstGeom>
          <a:noFill/>
          <a:ln/>
        </p:spPr>
        <p:txBody>
          <a:bodyPr wrap="square" lIns="0" tIns="0" rIns="0" bIns="0" rtlCol="0" anchor="ctr"/>
          <a:lstStyle/>
          <a:p>
            <a:pPr marL="0" indent="0">
              <a:buNone/>
            </a:pPr>
            <a:r>
              <a:rPr lang="en-US" sz="1200" b="1" dirty="0">
                <a:solidFill>
                  <a:srgbClr val="6B46C1"/>
                </a:solidFill>
                <a:latin typeface="Calibri" pitchFamily="34" charset="0"/>
                <a:ea typeface="Calibri" pitchFamily="34" charset="-122"/>
                <a:cs typeface="Calibri" pitchFamily="34" charset="-120"/>
              </a:rPr>
              <a:t>Performance</a:t>
            </a:r>
            <a:endParaRPr lang="en-US" sz="1400" dirty="0"/>
          </a:p>
          <a:p>
            <a:pPr marL="0" indent="0">
              <a:buNone/>
            </a:pPr>
            <a:r>
              <a:rPr lang="en-US" sz="1000" dirty="0">
                <a:solidFill>
                  <a:srgbClr val="4A4870"/>
                </a:solidFill>
                <a:latin typeface="Calibri" pitchFamily="34" charset="0"/>
                <a:ea typeface="Calibri" pitchFamily="34" charset="-122"/>
                <a:cs typeface="Calibri" pitchFamily="34" charset="-120"/>
              </a:rPr>
              <a:t>Exponential recursion → O(mn)</a:t>
            </a:r>
            <a:endParaRPr lang="en-US" sz="1400" dirty="0"/>
          </a:p>
        </p:txBody>
      </p:sp>
      <p:sp>
        <p:nvSpPr>
          <p:cNvPr id="35" name="Text 32"/>
          <p:cNvSpPr txBox="1"/>
          <p:nvPr/>
        </p:nvSpPr>
        <p:spPr>
          <a:xfrm>
            <a:off x="457200" y="4526280"/>
            <a:ext cx="8229600" cy="246888"/>
          </a:xfrm>
          <a:prstGeom prst="rect">
            <a:avLst/>
          </a:prstGeom>
          <a:noFill/>
          <a:ln/>
        </p:spPr>
        <p:txBody>
          <a:bodyPr wrap="square" lIns="0" tIns="0" rIns="0" bIns="0" rtlCol="0" anchor="ctr"/>
          <a:lstStyle/>
          <a:p>
            <a:pPr marL="0" indent="0" algn="ctr">
              <a:buNone/>
            </a:pPr>
            <a:r>
              <a:rPr lang="en-US" sz="1200" i="1" dirty="0">
                <a:solidFill>
                  <a:srgbClr val="6B46C1"/>
                </a:solidFill>
                <a:latin typeface="Calibri" pitchFamily="34" charset="0"/>
                <a:ea typeface="Calibri" pitchFamily="34" charset="-122"/>
                <a:cs typeface="Calibri" pitchFamily="34" charset="-120"/>
              </a:rPr>
              <a:t>“Our impact is not just faster computation — it is understandable computation.”</a:t>
            </a:r>
            <a:endParaRPr lang="en-US" sz="1200" dirty="0"/>
          </a:p>
        </p:txBody>
      </p:sp>
      <p:sp>
        <p:nvSpPr>
          <p:cNvPr id="36"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lgn="l">
              <a:buNone/>
            </a:pPr>
            <a:r>
              <a:rPr lang="en-US" sz="3400" b="1" dirty="0">
                <a:solidFill>
                  <a:srgbClr val="2B2A4C"/>
                </a:solidFill>
              </a:rPr>
              <a:t>From Common Thread to Intelligent Analysis</a:t>
            </a:r>
            <a:endParaRPr lang="en-US" sz="3400" dirty="0"/>
          </a:p>
        </p:txBody>
      </p:sp>
      <p:sp>
        <p:nvSpPr>
          <p:cNvPr id="3" name="Shape 1"/>
          <p:cNvSpPr/>
          <p:nvPr/>
        </p:nvSpPr>
        <p:spPr>
          <a:xfrm>
            <a:off x="457200" y="1097280"/>
            <a:ext cx="3017520" cy="2834640"/>
          </a:xfrm>
          <a:prstGeom prst="roundRect">
            <a:avLst>
              <a:gd name="adj" fmla="val 2581"/>
            </a:avLst>
          </a:prstGeom>
          <a:solidFill>
            <a:srgbClr val="EAE4FB"/>
          </a:solidFill>
          <a:ln w="9525">
            <a:solidFill>
              <a:srgbClr val="D9D0F2"/>
            </a:solidFill>
            <a:prstDash val="solid"/>
          </a:ln>
        </p:spPr>
      </p:sp>
      <p:sp>
        <p:nvSpPr>
          <p:cNvPr id="4" name="Text 2"/>
          <p:cNvSpPr txBox="1"/>
          <p:nvPr/>
        </p:nvSpPr>
        <p:spPr>
          <a:xfrm>
            <a:off x="640080" y="1188720"/>
            <a:ext cx="2743200" cy="228600"/>
          </a:xfrm>
          <a:prstGeom prst="rect">
            <a:avLst/>
          </a:prstGeom>
          <a:noFill/>
          <a:ln/>
        </p:spPr>
        <p:txBody>
          <a:bodyPr wrap="square" lIns="0" tIns="0" rIns="0" bIns="0" rtlCol="0" anchor="t"/>
          <a:lstStyle/>
          <a:p>
            <a:pPr marL="0" indent="0">
              <a:buNone/>
            </a:pPr>
            <a:r>
              <a:rPr lang="en-US" sz="1100" b="1" kern="0" spc="200" dirty="0">
                <a:solidFill>
                  <a:srgbClr val="0F766E"/>
                </a:solidFill>
                <a:latin typeface="Calibri" pitchFamily="34" charset="0"/>
                <a:ea typeface="Calibri" pitchFamily="34" charset="-122"/>
                <a:cs typeface="Calibri" pitchFamily="34" charset="-120"/>
              </a:rPr>
              <a:t>CURRENT ACHIEVEMENT</a:t>
            </a:r>
            <a:endParaRPr lang="en-US" sz="1100" dirty="0"/>
          </a:p>
        </p:txBody>
      </p:sp>
      <p:sp>
        <p:nvSpPr>
          <p:cNvPr id="5" name="Shape 3"/>
          <p:cNvSpPr/>
          <p:nvPr/>
        </p:nvSpPr>
        <p:spPr>
          <a:xfrm>
            <a:off x="658368" y="1572768"/>
            <a:ext cx="118872" cy="118872"/>
          </a:xfrm>
          <a:prstGeom prst="ellipse">
            <a:avLst/>
          </a:prstGeom>
          <a:solidFill>
            <a:srgbClr val="86DCCB"/>
          </a:solidFill>
          <a:ln w="12700">
            <a:solidFill>
              <a:srgbClr val="86DCCB"/>
            </a:solidFill>
            <a:prstDash val="solid"/>
          </a:ln>
        </p:spPr>
      </p:sp>
      <p:sp>
        <p:nvSpPr>
          <p:cNvPr id="6" name="Text 4"/>
          <p:cNvSpPr txBox="1"/>
          <p:nvPr/>
        </p:nvSpPr>
        <p:spPr>
          <a:xfrm>
            <a:off x="914400" y="1481328"/>
            <a:ext cx="2468880" cy="292608"/>
          </a:xfrm>
          <a:prstGeom prst="rect">
            <a:avLst/>
          </a:prstGeom>
          <a:noFill/>
          <a:ln/>
        </p:spPr>
        <p:txBody>
          <a:bodyPr wrap="square" lIns="0" tIns="0" rIns="0" bIns="0" rtlCol="0" anchor="ctr"/>
          <a:lstStyle/>
          <a:p>
            <a:pPr marL="0" indent="0">
              <a:buNone/>
            </a:pPr>
            <a:r>
              <a:rPr lang="en-US" sz="1300" dirty="0">
                <a:solidFill>
                  <a:srgbClr val="2B2A4C"/>
                </a:solidFill>
                <a:latin typeface="Calibri" pitchFamily="34" charset="0"/>
                <a:ea typeface="Calibri" pitchFamily="34" charset="-122"/>
                <a:cs typeface="Calibri" pitchFamily="34" charset="-120"/>
              </a:rPr>
              <a:t>Interactive DNA comparison</a:t>
            </a:r>
            <a:endParaRPr lang="en-US" sz="1300" dirty="0"/>
          </a:p>
        </p:txBody>
      </p:sp>
      <p:sp>
        <p:nvSpPr>
          <p:cNvPr id="7" name="Shape 5"/>
          <p:cNvSpPr/>
          <p:nvPr/>
        </p:nvSpPr>
        <p:spPr>
          <a:xfrm>
            <a:off x="658368" y="1911096"/>
            <a:ext cx="118872" cy="118872"/>
          </a:xfrm>
          <a:prstGeom prst="ellipse">
            <a:avLst/>
          </a:prstGeom>
          <a:solidFill>
            <a:srgbClr val="86DCCB"/>
          </a:solidFill>
          <a:ln w="12700">
            <a:solidFill>
              <a:srgbClr val="86DCCB"/>
            </a:solidFill>
            <a:prstDash val="solid"/>
          </a:ln>
        </p:spPr>
      </p:sp>
      <p:sp>
        <p:nvSpPr>
          <p:cNvPr id="8" name="Text 6"/>
          <p:cNvSpPr txBox="1"/>
          <p:nvPr/>
        </p:nvSpPr>
        <p:spPr>
          <a:xfrm>
            <a:off x="914400" y="1819656"/>
            <a:ext cx="2468880" cy="292608"/>
          </a:xfrm>
          <a:prstGeom prst="rect">
            <a:avLst/>
          </a:prstGeom>
          <a:noFill/>
          <a:ln/>
        </p:spPr>
        <p:txBody>
          <a:bodyPr wrap="square" lIns="0" tIns="0" rIns="0" bIns="0" rtlCol="0" anchor="ctr"/>
          <a:lstStyle/>
          <a:p>
            <a:pPr marL="0" indent="0">
              <a:buNone/>
            </a:pPr>
            <a:r>
              <a:rPr lang="en-US" sz="1300" dirty="0">
                <a:solidFill>
                  <a:srgbClr val="2B2A4C"/>
                </a:solidFill>
                <a:latin typeface="Calibri" pitchFamily="34" charset="0"/>
                <a:ea typeface="Calibri" pitchFamily="34" charset="-122"/>
                <a:cs typeface="Calibri" pitchFamily="34" charset="-120"/>
              </a:rPr>
              <a:t>LCS implementation</a:t>
            </a:r>
            <a:endParaRPr lang="en-US" sz="1300" dirty="0"/>
          </a:p>
        </p:txBody>
      </p:sp>
      <p:sp>
        <p:nvSpPr>
          <p:cNvPr id="9" name="Shape 7"/>
          <p:cNvSpPr/>
          <p:nvPr/>
        </p:nvSpPr>
        <p:spPr>
          <a:xfrm>
            <a:off x="658368" y="2249424"/>
            <a:ext cx="118872" cy="118872"/>
          </a:xfrm>
          <a:prstGeom prst="ellipse">
            <a:avLst/>
          </a:prstGeom>
          <a:solidFill>
            <a:srgbClr val="86DCCB"/>
          </a:solidFill>
          <a:ln w="12700">
            <a:solidFill>
              <a:srgbClr val="86DCCB"/>
            </a:solidFill>
            <a:prstDash val="solid"/>
          </a:ln>
        </p:spPr>
      </p:sp>
      <p:sp>
        <p:nvSpPr>
          <p:cNvPr id="10" name="Text 8"/>
          <p:cNvSpPr txBox="1"/>
          <p:nvPr/>
        </p:nvSpPr>
        <p:spPr>
          <a:xfrm>
            <a:off x="914400" y="2157984"/>
            <a:ext cx="2468880" cy="292608"/>
          </a:xfrm>
          <a:prstGeom prst="rect">
            <a:avLst/>
          </a:prstGeom>
          <a:noFill/>
          <a:ln/>
        </p:spPr>
        <p:txBody>
          <a:bodyPr wrap="square" lIns="0" tIns="0" rIns="0" bIns="0" rtlCol="0" anchor="ctr"/>
          <a:lstStyle/>
          <a:p>
            <a:pPr marL="0" indent="0">
              <a:buNone/>
            </a:pPr>
            <a:r>
              <a:rPr lang="en-US" sz="1300" dirty="0">
                <a:solidFill>
                  <a:srgbClr val="2B2A4C"/>
                </a:solidFill>
                <a:latin typeface="Calibri" pitchFamily="34" charset="0"/>
                <a:ea typeface="Calibri" pitchFamily="34" charset="-122"/>
                <a:cs typeface="Calibri" pitchFamily="34" charset="-120"/>
              </a:rPr>
              <a:t>DP visualization</a:t>
            </a:r>
            <a:endParaRPr lang="en-US" sz="1300" dirty="0"/>
          </a:p>
        </p:txBody>
      </p:sp>
      <p:sp>
        <p:nvSpPr>
          <p:cNvPr id="11" name="Shape 9"/>
          <p:cNvSpPr/>
          <p:nvPr/>
        </p:nvSpPr>
        <p:spPr>
          <a:xfrm>
            <a:off x="658368" y="2587752"/>
            <a:ext cx="118872" cy="118872"/>
          </a:xfrm>
          <a:prstGeom prst="ellipse">
            <a:avLst/>
          </a:prstGeom>
          <a:solidFill>
            <a:srgbClr val="86DCCB"/>
          </a:solidFill>
          <a:ln w="12700">
            <a:solidFill>
              <a:srgbClr val="86DCCB"/>
            </a:solidFill>
            <a:prstDash val="solid"/>
          </a:ln>
        </p:spPr>
      </p:sp>
      <p:sp>
        <p:nvSpPr>
          <p:cNvPr id="12" name="Text 10"/>
          <p:cNvSpPr txBox="1"/>
          <p:nvPr/>
        </p:nvSpPr>
        <p:spPr>
          <a:xfrm>
            <a:off x="914400" y="2496312"/>
            <a:ext cx="2468880" cy="292608"/>
          </a:xfrm>
          <a:prstGeom prst="rect">
            <a:avLst/>
          </a:prstGeom>
          <a:noFill/>
          <a:ln/>
        </p:spPr>
        <p:txBody>
          <a:bodyPr wrap="square" lIns="0" tIns="0" rIns="0" bIns="0" rtlCol="0" anchor="ctr"/>
          <a:lstStyle/>
          <a:p>
            <a:pPr marL="0" indent="0">
              <a:buNone/>
            </a:pPr>
            <a:r>
              <a:rPr lang="en-US" sz="1300" dirty="0">
                <a:solidFill>
                  <a:srgbClr val="2B2A4C"/>
                </a:solidFill>
                <a:latin typeface="Calibri" pitchFamily="34" charset="0"/>
                <a:ea typeface="Calibri" pitchFamily="34" charset="-122"/>
                <a:cs typeface="Calibri" pitchFamily="34" charset="-120"/>
              </a:rPr>
              <a:t>Traceback animation</a:t>
            </a:r>
            <a:endParaRPr lang="en-US" sz="1300" dirty="0"/>
          </a:p>
        </p:txBody>
      </p:sp>
      <p:sp>
        <p:nvSpPr>
          <p:cNvPr id="13" name="Shape 11"/>
          <p:cNvSpPr/>
          <p:nvPr/>
        </p:nvSpPr>
        <p:spPr>
          <a:xfrm>
            <a:off x="658368" y="2926080"/>
            <a:ext cx="118872" cy="118872"/>
          </a:xfrm>
          <a:prstGeom prst="ellipse">
            <a:avLst/>
          </a:prstGeom>
          <a:solidFill>
            <a:srgbClr val="86DCCB"/>
          </a:solidFill>
          <a:ln w="12700">
            <a:solidFill>
              <a:srgbClr val="86DCCB"/>
            </a:solidFill>
            <a:prstDash val="solid"/>
          </a:ln>
        </p:spPr>
      </p:sp>
      <p:sp>
        <p:nvSpPr>
          <p:cNvPr id="14" name="Text 12"/>
          <p:cNvSpPr txBox="1"/>
          <p:nvPr/>
        </p:nvSpPr>
        <p:spPr>
          <a:xfrm>
            <a:off x="914400" y="2834640"/>
            <a:ext cx="2468880" cy="292608"/>
          </a:xfrm>
          <a:prstGeom prst="rect">
            <a:avLst/>
          </a:prstGeom>
          <a:noFill/>
          <a:ln/>
        </p:spPr>
        <p:txBody>
          <a:bodyPr wrap="square" lIns="0" tIns="0" rIns="0" bIns="0" rtlCol="0" anchor="ctr"/>
          <a:lstStyle/>
          <a:p>
            <a:pPr marL="0" indent="0">
              <a:buNone/>
            </a:pPr>
            <a:r>
              <a:rPr lang="en-US" sz="1300" dirty="0">
                <a:solidFill>
                  <a:srgbClr val="2B2A4C"/>
                </a:solidFill>
                <a:latin typeface="Calibri" pitchFamily="34" charset="0"/>
                <a:ea typeface="Calibri" pitchFamily="34" charset="-122"/>
                <a:cs typeface="Calibri" pitchFamily="34" charset="-120"/>
              </a:rPr>
              <a:t>Similarity &amp; coverage</a:t>
            </a:r>
            <a:endParaRPr lang="en-US" sz="1300" dirty="0"/>
          </a:p>
        </p:txBody>
      </p:sp>
      <p:sp>
        <p:nvSpPr>
          <p:cNvPr id="15" name="Shape 13"/>
          <p:cNvSpPr/>
          <p:nvPr/>
        </p:nvSpPr>
        <p:spPr>
          <a:xfrm>
            <a:off x="658368" y="3264408"/>
            <a:ext cx="118872" cy="118872"/>
          </a:xfrm>
          <a:prstGeom prst="ellipse">
            <a:avLst/>
          </a:prstGeom>
          <a:solidFill>
            <a:srgbClr val="86DCCB"/>
          </a:solidFill>
          <a:ln w="12700">
            <a:solidFill>
              <a:srgbClr val="86DCCB"/>
            </a:solidFill>
            <a:prstDash val="solid"/>
          </a:ln>
        </p:spPr>
      </p:sp>
      <p:sp>
        <p:nvSpPr>
          <p:cNvPr id="16" name="Text 14"/>
          <p:cNvSpPr txBox="1"/>
          <p:nvPr/>
        </p:nvSpPr>
        <p:spPr>
          <a:xfrm>
            <a:off x="914400" y="3172968"/>
            <a:ext cx="2468880" cy="292608"/>
          </a:xfrm>
          <a:prstGeom prst="rect">
            <a:avLst/>
          </a:prstGeom>
          <a:noFill/>
          <a:ln/>
        </p:spPr>
        <p:txBody>
          <a:bodyPr wrap="square" lIns="0" tIns="0" rIns="0" bIns="0" rtlCol="0" anchor="ctr"/>
          <a:lstStyle/>
          <a:p>
            <a:pPr marL="0" indent="0">
              <a:buNone/>
            </a:pPr>
            <a:r>
              <a:rPr lang="en-US" sz="1300" dirty="0">
                <a:solidFill>
                  <a:srgbClr val="2B2A4C"/>
                </a:solidFill>
                <a:latin typeface="Calibri" pitchFamily="34" charset="0"/>
                <a:ea typeface="Calibri" pitchFamily="34" charset="-122"/>
                <a:cs typeface="Calibri" pitchFamily="34" charset="-120"/>
              </a:rPr>
              <a:t>Algorithm comparison</a:t>
            </a:r>
            <a:endParaRPr lang="en-US" sz="1300" dirty="0"/>
          </a:p>
        </p:txBody>
      </p:sp>
      <p:sp>
        <p:nvSpPr>
          <p:cNvPr id="17" name="Shape 15"/>
          <p:cNvSpPr/>
          <p:nvPr/>
        </p:nvSpPr>
        <p:spPr>
          <a:xfrm>
            <a:off x="658368" y="3602736"/>
            <a:ext cx="118872" cy="118872"/>
          </a:xfrm>
          <a:prstGeom prst="ellipse">
            <a:avLst/>
          </a:prstGeom>
          <a:solidFill>
            <a:srgbClr val="86DCCB"/>
          </a:solidFill>
          <a:ln w="12700">
            <a:solidFill>
              <a:srgbClr val="86DCCB"/>
            </a:solidFill>
            <a:prstDash val="solid"/>
          </a:ln>
        </p:spPr>
      </p:sp>
      <p:sp>
        <p:nvSpPr>
          <p:cNvPr id="18" name="Text 16"/>
          <p:cNvSpPr txBox="1"/>
          <p:nvPr/>
        </p:nvSpPr>
        <p:spPr>
          <a:xfrm>
            <a:off x="914400" y="3511296"/>
            <a:ext cx="2468880" cy="292608"/>
          </a:xfrm>
          <a:prstGeom prst="rect">
            <a:avLst/>
          </a:prstGeom>
          <a:noFill/>
          <a:ln/>
        </p:spPr>
        <p:txBody>
          <a:bodyPr wrap="square" lIns="0" tIns="0" rIns="0" bIns="0" rtlCol="0" anchor="ctr"/>
          <a:lstStyle/>
          <a:p>
            <a:pPr marL="0" indent="0">
              <a:buNone/>
            </a:pPr>
            <a:r>
              <a:rPr lang="en-US" sz="1300" dirty="0">
                <a:solidFill>
                  <a:srgbClr val="2B2A4C"/>
                </a:solidFill>
                <a:latin typeface="Calibri" pitchFamily="34" charset="0"/>
                <a:ea typeface="Calibri" pitchFamily="34" charset="-122"/>
                <a:cs typeface="Calibri" pitchFamily="34" charset="-120"/>
              </a:rPr>
              <a:t>Biopython global alignment</a:t>
            </a:r>
            <a:endParaRPr lang="en-US" sz="1300" dirty="0"/>
          </a:p>
        </p:txBody>
      </p:sp>
      <p:sp>
        <p:nvSpPr>
          <p:cNvPr id="19" name="Shape 17"/>
          <p:cNvSpPr/>
          <p:nvPr/>
        </p:nvSpPr>
        <p:spPr>
          <a:xfrm>
            <a:off x="3657600" y="1097280"/>
            <a:ext cx="2468880" cy="1371600"/>
          </a:xfrm>
          <a:prstGeom prst="roundRect">
            <a:avLst>
              <a:gd name="adj" fmla="val 5333"/>
            </a:avLst>
          </a:prstGeom>
          <a:solidFill>
            <a:srgbClr val="FFFFFF"/>
          </a:solidFill>
          <a:ln w="9525">
            <a:solidFill>
              <a:srgbClr val="D9D0F2"/>
            </a:solidFill>
            <a:prstDash val="solid"/>
          </a:ln>
        </p:spPr>
      </p:sp>
      <p:sp>
        <p:nvSpPr>
          <p:cNvPr id="20" name="Text 18"/>
          <p:cNvSpPr txBox="1"/>
          <p:nvPr/>
        </p:nvSpPr>
        <p:spPr>
          <a:xfrm>
            <a:off x="3794760" y="1170432"/>
            <a:ext cx="2194560" cy="274320"/>
          </a:xfrm>
          <a:prstGeom prst="rect">
            <a:avLst/>
          </a:prstGeom>
          <a:noFill/>
          <a:ln/>
        </p:spPr>
        <p:txBody>
          <a:bodyPr wrap="square" lIns="0" tIns="0" rIns="0" bIns="0" rtlCol="0" anchor="t"/>
          <a:lstStyle/>
          <a:p>
            <a:pPr marL="0" indent="0">
              <a:buNone/>
            </a:pPr>
            <a:r>
              <a:rPr lang="en-US" sz="1400" b="1" dirty="0">
                <a:solidFill>
                  <a:srgbClr val="0F766E"/>
                </a:solidFill>
                <a:latin typeface="Calibri" pitchFamily="34" charset="0"/>
                <a:ea typeface="Calibri" pitchFamily="34" charset="-122"/>
                <a:cs typeface="Calibri" pitchFamily="34" charset="-120"/>
              </a:rPr>
              <a:t>Advanced Algorithms</a:t>
            </a:r>
            <a:endParaRPr lang="en-US" sz="1400" dirty="0"/>
          </a:p>
        </p:txBody>
      </p:sp>
      <p:sp>
        <p:nvSpPr>
          <p:cNvPr id="21" name="Text 19"/>
          <p:cNvSpPr txBox="1"/>
          <p:nvPr/>
        </p:nvSpPr>
        <p:spPr>
          <a:xfrm>
            <a:off x="3794760" y="1444752"/>
            <a:ext cx="2194560" cy="960120"/>
          </a:xfrm>
          <a:prstGeom prst="rect">
            <a:avLst/>
          </a:prstGeom>
          <a:noFill/>
          <a:ln/>
        </p:spPr>
        <p:txBody>
          <a:bodyPr wrap="square" lIns="0" tIns="0" rIns="0" bIns="0" rtlCol="0" anchor="t"/>
          <a:lstStyle/>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Needleman–Wunsch</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Smith–Waterman</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Hirschberg's algorithm</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Multiple sequence alignment</a:t>
            </a:r>
            <a:endParaRPr lang="en-US" sz="1200" dirty="0"/>
          </a:p>
        </p:txBody>
      </p:sp>
      <p:sp>
        <p:nvSpPr>
          <p:cNvPr id="22" name="Shape 20"/>
          <p:cNvSpPr/>
          <p:nvPr/>
        </p:nvSpPr>
        <p:spPr>
          <a:xfrm>
            <a:off x="6217920" y="1097280"/>
            <a:ext cx="2468880" cy="1371600"/>
          </a:xfrm>
          <a:prstGeom prst="roundRect">
            <a:avLst>
              <a:gd name="adj" fmla="val 5333"/>
            </a:avLst>
          </a:prstGeom>
          <a:solidFill>
            <a:srgbClr val="FFFFFF"/>
          </a:solidFill>
          <a:ln w="9525">
            <a:solidFill>
              <a:srgbClr val="D9D0F2"/>
            </a:solidFill>
            <a:prstDash val="solid"/>
          </a:ln>
        </p:spPr>
      </p:sp>
      <p:sp>
        <p:nvSpPr>
          <p:cNvPr id="23" name="Text 21"/>
          <p:cNvSpPr txBox="1"/>
          <p:nvPr/>
        </p:nvSpPr>
        <p:spPr>
          <a:xfrm>
            <a:off x="6355080" y="1170432"/>
            <a:ext cx="2194560" cy="274320"/>
          </a:xfrm>
          <a:prstGeom prst="rect">
            <a:avLst/>
          </a:prstGeom>
          <a:noFill/>
          <a:ln/>
        </p:spPr>
        <p:txBody>
          <a:bodyPr wrap="square" lIns="0" tIns="0" rIns="0" bIns="0" rtlCol="0" anchor="t"/>
          <a:lstStyle/>
          <a:p>
            <a:pPr marL="0" indent="0">
              <a:buNone/>
            </a:pPr>
            <a:r>
              <a:rPr lang="en-US" sz="1400" b="1" dirty="0">
                <a:solidFill>
                  <a:srgbClr val="6B46C1"/>
                </a:solidFill>
                <a:latin typeface="Calibri" pitchFamily="34" charset="0"/>
                <a:ea typeface="Calibri" pitchFamily="34" charset="-122"/>
                <a:cs typeface="Calibri" pitchFamily="34" charset="-120"/>
              </a:rPr>
              <a:t>Scalability</a:t>
            </a:r>
            <a:endParaRPr lang="en-US" sz="1400" dirty="0"/>
          </a:p>
        </p:txBody>
      </p:sp>
      <p:sp>
        <p:nvSpPr>
          <p:cNvPr id="24" name="Text 22"/>
          <p:cNvSpPr txBox="1"/>
          <p:nvPr/>
        </p:nvSpPr>
        <p:spPr>
          <a:xfrm>
            <a:off x="6355080" y="1444752"/>
            <a:ext cx="2194560" cy="960120"/>
          </a:xfrm>
          <a:prstGeom prst="rect">
            <a:avLst/>
          </a:prstGeom>
          <a:noFill/>
          <a:ln/>
        </p:spPr>
        <p:txBody>
          <a:bodyPr wrap="square" lIns="0" tIns="0" rIns="0" bIns="0" rtlCol="0" anchor="t"/>
          <a:lstStyle/>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Large genomic datasets</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Memory-efficient DP</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Parallel computation</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Optimized processing</a:t>
            </a:r>
            <a:endParaRPr lang="en-US" sz="1200" dirty="0"/>
          </a:p>
        </p:txBody>
      </p:sp>
      <p:sp>
        <p:nvSpPr>
          <p:cNvPr id="25" name="Shape 23"/>
          <p:cNvSpPr/>
          <p:nvPr/>
        </p:nvSpPr>
        <p:spPr>
          <a:xfrm>
            <a:off x="3657600" y="2560320"/>
            <a:ext cx="2468880" cy="1371600"/>
          </a:xfrm>
          <a:prstGeom prst="roundRect">
            <a:avLst>
              <a:gd name="adj" fmla="val 5333"/>
            </a:avLst>
          </a:prstGeom>
          <a:solidFill>
            <a:srgbClr val="FFFFFF"/>
          </a:solidFill>
          <a:ln w="9525">
            <a:solidFill>
              <a:srgbClr val="D9D0F2"/>
            </a:solidFill>
            <a:prstDash val="solid"/>
          </a:ln>
        </p:spPr>
      </p:sp>
      <p:sp>
        <p:nvSpPr>
          <p:cNvPr id="26" name="Text 24"/>
          <p:cNvSpPr txBox="1"/>
          <p:nvPr/>
        </p:nvSpPr>
        <p:spPr>
          <a:xfrm>
            <a:off x="3794760" y="2633472"/>
            <a:ext cx="2194560" cy="274320"/>
          </a:xfrm>
          <a:prstGeom prst="rect">
            <a:avLst/>
          </a:prstGeom>
          <a:noFill/>
          <a:ln/>
        </p:spPr>
        <p:txBody>
          <a:bodyPr wrap="square" lIns="0" tIns="0" rIns="0" bIns="0" rtlCol="0" anchor="t"/>
          <a:lstStyle/>
          <a:p>
            <a:pPr marL="0" indent="0">
              <a:buNone/>
            </a:pPr>
            <a:r>
              <a:rPr lang="en-US" sz="1400" b="1" dirty="0">
                <a:solidFill>
                  <a:srgbClr val="0F766E"/>
                </a:solidFill>
                <a:latin typeface="Calibri" pitchFamily="34" charset="0"/>
                <a:ea typeface="Calibri" pitchFamily="34" charset="-122"/>
                <a:cs typeface="Calibri" pitchFamily="34" charset="-120"/>
              </a:rPr>
              <a:t>Advanced Bioinformatics</a:t>
            </a:r>
            <a:endParaRPr lang="en-US" sz="1400" dirty="0"/>
          </a:p>
        </p:txBody>
      </p:sp>
      <p:sp>
        <p:nvSpPr>
          <p:cNvPr id="27" name="Text 25"/>
          <p:cNvSpPr txBox="1"/>
          <p:nvPr/>
        </p:nvSpPr>
        <p:spPr>
          <a:xfrm>
            <a:off x="3794760" y="2907792"/>
            <a:ext cx="2194560" cy="960120"/>
          </a:xfrm>
          <a:prstGeom prst="rect">
            <a:avLst/>
          </a:prstGeom>
          <a:noFill/>
          <a:ln/>
        </p:spPr>
        <p:txBody>
          <a:bodyPr wrap="square" lIns="0" tIns="0" rIns="0" bIns="0" rtlCol="0" anchor="t"/>
          <a:lstStyle/>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Mutation visualization</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Sequence annotation</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Gap / substitution scoring</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FASTA file analysis</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Alignment reports</a:t>
            </a:r>
            <a:endParaRPr lang="en-US" sz="1200" dirty="0"/>
          </a:p>
        </p:txBody>
      </p:sp>
      <p:sp>
        <p:nvSpPr>
          <p:cNvPr id="28" name="Shape 26"/>
          <p:cNvSpPr/>
          <p:nvPr/>
        </p:nvSpPr>
        <p:spPr>
          <a:xfrm>
            <a:off x="6217920" y="2560320"/>
            <a:ext cx="2468880" cy="1371600"/>
          </a:xfrm>
          <a:prstGeom prst="roundRect">
            <a:avLst>
              <a:gd name="adj" fmla="val 5333"/>
            </a:avLst>
          </a:prstGeom>
          <a:solidFill>
            <a:srgbClr val="FFFFFF"/>
          </a:solidFill>
          <a:ln w="9525">
            <a:solidFill>
              <a:srgbClr val="D9D0F2"/>
            </a:solidFill>
            <a:prstDash val="solid"/>
          </a:ln>
        </p:spPr>
      </p:sp>
      <p:sp>
        <p:nvSpPr>
          <p:cNvPr id="29" name="Text 27"/>
          <p:cNvSpPr txBox="1"/>
          <p:nvPr/>
        </p:nvSpPr>
        <p:spPr>
          <a:xfrm>
            <a:off x="6355080" y="2633472"/>
            <a:ext cx="2194560" cy="274320"/>
          </a:xfrm>
          <a:prstGeom prst="rect">
            <a:avLst/>
          </a:prstGeom>
          <a:noFill/>
          <a:ln/>
        </p:spPr>
        <p:txBody>
          <a:bodyPr wrap="square" lIns="0" tIns="0" rIns="0" bIns="0" rtlCol="0" anchor="t"/>
          <a:lstStyle/>
          <a:p>
            <a:pPr marL="0" indent="0">
              <a:buNone/>
            </a:pPr>
            <a:r>
              <a:rPr lang="en-US" sz="1400" b="1" dirty="0">
                <a:solidFill>
                  <a:srgbClr val="6B46C1"/>
                </a:solidFill>
                <a:latin typeface="Calibri" pitchFamily="34" charset="0"/>
                <a:ea typeface="Calibri" pitchFamily="34" charset="-122"/>
                <a:cs typeface="Calibri" pitchFamily="34" charset="-120"/>
              </a:rPr>
              <a:t>Educational Platform</a:t>
            </a:r>
            <a:endParaRPr lang="en-US" sz="1400" dirty="0"/>
          </a:p>
        </p:txBody>
      </p:sp>
      <p:sp>
        <p:nvSpPr>
          <p:cNvPr id="30" name="Text 28"/>
          <p:cNvSpPr txBox="1"/>
          <p:nvPr/>
        </p:nvSpPr>
        <p:spPr>
          <a:xfrm>
            <a:off x="6355080" y="2907792"/>
            <a:ext cx="2194560" cy="960120"/>
          </a:xfrm>
          <a:prstGeom prst="rect">
            <a:avLst/>
          </a:prstGeom>
          <a:noFill/>
          <a:ln/>
        </p:spPr>
        <p:txBody>
          <a:bodyPr wrap="square" lIns="0" tIns="0" rIns="0" bIns="0" rtlCol="0" anchor="t"/>
          <a:lstStyle/>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Interactive DP exercises</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Step-by-step challenges</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Algorithm comparison labs</a:t>
            </a:r>
            <a:endParaRPr lang="en-US" sz="1200" dirty="0"/>
          </a:p>
          <a:p>
            <a:pPr marL="342900" indent="-342900">
              <a:buSzPct val="100000"/>
              <a:buChar char="•"/>
            </a:pPr>
            <a:r>
              <a:rPr lang="en-US" sz="1200" dirty="0">
                <a:solidFill>
                  <a:srgbClr val="4A4870"/>
                </a:solidFill>
                <a:latin typeface="Calibri" pitchFamily="34" charset="0"/>
                <a:ea typeface="Calibri" pitchFamily="34" charset="-122"/>
                <a:cs typeface="Calibri" pitchFamily="34" charset="-120"/>
              </a:rPr>
              <a:t>Complexity visualization</a:t>
            </a:r>
            <a:endParaRPr lang="en-US" sz="1200" dirty="0"/>
          </a:p>
        </p:txBody>
      </p:sp>
      <p:sp>
        <p:nvSpPr>
          <p:cNvPr id="31" name="Shape 29"/>
          <p:cNvSpPr/>
          <p:nvPr/>
        </p:nvSpPr>
        <p:spPr>
          <a:xfrm>
            <a:off x="457200" y="4041648"/>
            <a:ext cx="8229600" cy="667512"/>
          </a:xfrm>
          <a:prstGeom prst="roundRect">
            <a:avLst>
              <a:gd name="adj" fmla="val 10959"/>
            </a:avLst>
          </a:prstGeom>
          <a:solidFill>
            <a:srgbClr val="86DCCB"/>
          </a:solidFill>
          <a:ln w="9525">
            <a:solidFill>
              <a:srgbClr val="86DCCB"/>
            </a:solidFill>
            <a:prstDash val="solid"/>
          </a:ln>
        </p:spPr>
      </p:sp>
      <p:sp>
        <p:nvSpPr>
          <p:cNvPr id="32" name="Text 30"/>
          <p:cNvSpPr txBox="1"/>
          <p:nvPr/>
        </p:nvSpPr>
        <p:spPr>
          <a:xfrm>
            <a:off x="640080" y="4041648"/>
            <a:ext cx="5120640" cy="667512"/>
          </a:xfrm>
          <a:prstGeom prst="rect">
            <a:avLst/>
          </a:prstGeom>
          <a:noFill/>
          <a:ln/>
        </p:spPr>
        <p:txBody>
          <a:bodyPr wrap="square" lIns="0" tIns="0" rIns="0" bIns="0" rtlCol="0" anchor="ctr"/>
          <a:lstStyle/>
          <a:p>
            <a:pPr marL="0" indent="0">
              <a:buNone/>
            </a:pPr>
            <a:r>
              <a:rPr lang="en-US" sz="2000" b="1" dirty="0">
                <a:solidFill>
                  <a:srgbClr val="2B2A4C"/>
                </a:solidFill>
                <a:latin typeface="Calibri" pitchFamily="34" charset="0"/>
                <a:ea typeface="Calibri" pitchFamily="34" charset="-122"/>
                <a:cs typeface="Calibri" pitchFamily="34" charset="-120"/>
              </a:rPr>
              <a:t>Find the Common Thread.</a:t>
            </a:r>
            <a:endParaRPr lang="en-US" sz="1400" dirty="0"/>
          </a:p>
          <a:p>
            <a:pPr marL="0" indent="0">
              <a:buNone/>
            </a:pPr>
            <a:r>
              <a:rPr lang="en-US" sz="1100" dirty="0">
                <a:solidFill>
                  <a:srgbClr val="2B2A4C"/>
                </a:solidFill>
                <a:latin typeface="Calibri" pitchFamily="34" charset="0"/>
                <a:ea typeface="Calibri" pitchFamily="34" charset="-122"/>
                <a:cs typeface="Calibri" pitchFamily="34" charset="-120"/>
              </a:rPr>
              <a:t>DNA → Data → Algorithm   to   Understanding → Insight → Innovation</a:t>
            </a:r>
            <a:endParaRPr lang="en-US" sz="1400" dirty="0"/>
          </a:p>
        </p:txBody>
      </p:sp>
      <p:sp>
        <p:nvSpPr>
          <p:cNvPr id="33" name="Text 31"/>
          <p:cNvSpPr txBox="1"/>
          <p:nvPr/>
        </p:nvSpPr>
        <p:spPr>
          <a:xfrm>
            <a:off x="5760720" y="4041648"/>
            <a:ext cx="2651760" cy="667512"/>
          </a:xfrm>
          <a:prstGeom prst="rect">
            <a:avLst/>
          </a:prstGeom>
          <a:noFill/>
          <a:ln/>
        </p:spPr>
        <p:txBody>
          <a:bodyPr wrap="square" lIns="0" tIns="0" rIns="0" bIns="0" rtlCol="0" anchor="ctr"/>
          <a:lstStyle/>
          <a:p>
            <a:pPr marL="0" indent="0" algn="r">
              <a:buNone/>
            </a:pPr>
            <a:r>
              <a:rPr lang="en-US" sz="1600" b="1" dirty="0">
                <a:solidFill>
                  <a:srgbClr val="2B2A4C"/>
                </a:solidFill>
                <a:latin typeface="Calibri" pitchFamily="34" charset="0"/>
                <a:ea typeface="Calibri" pitchFamily="34" charset="-122"/>
                <a:cs typeface="Calibri" pitchFamily="34" charset="-120"/>
              </a:rPr>
              <a:t>THANK YOU  ·  Questions?</a:t>
            </a:r>
            <a:endParaRPr lang="en-US" sz="1400" dirty="0"/>
          </a:p>
          <a:p>
            <a:pPr marL="0" indent="0" algn="r">
              <a:buNone/>
            </a:pPr>
            <a:r>
              <a:rPr lang="en-US" sz="1200" dirty="0">
                <a:solidFill>
                  <a:srgbClr val="2B2A4C"/>
                </a:solidFill>
                <a:latin typeface="Calibri" pitchFamily="34" charset="0"/>
                <a:ea typeface="Calibri" pitchFamily="34" charset="-122"/>
                <a:cs typeface="Calibri" pitchFamily="34" charset="-120"/>
              </a:rPr>
              <a:t>Team Common Thread</a:t>
            </a:r>
            <a:endParaRPr lang="en-US" sz="1400" dirty="0"/>
          </a:p>
        </p:txBody>
      </p:sp>
      <p:sp>
        <p:nvSpPr>
          <p:cNvPr id="34"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Common Thread">
  <a:themeElements>
    <a:clrScheme name="Common Thread">
      <a:dk1>
        <a:srgbClr val="2B2A4C"/>
      </a:dk1>
      <a:lt1>
        <a:srgbClr val="FFFFFF"/>
      </a:lt1>
      <a:dk2>
        <a:srgbClr val="4A4870"/>
      </a:dk2>
      <a:lt2>
        <a:srgbClr val="F4F1FF"/>
      </a:lt2>
      <a:accent1>
        <a:srgbClr val="86DCCB"/>
      </a:accent1>
      <a:accent2>
        <a:srgbClr val="BBA6F5"/>
      </a:accent2>
      <a:accent3>
        <a:srgbClr val="F7B7D2"/>
      </a:accent3>
      <a:accent4>
        <a:srgbClr val="FBD9A8"/>
      </a:accent4>
      <a:accent5>
        <a:srgbClr val="A9D4F5"/>
      </a:accent5>
      <a:accent6>
        <a:srgbClr val="0F766E"/>
      </a:accent6>
      <a:hlink>
        <a:srgbClr val="0F766E"/>
      </a:hlink>
      <a:folHlink>
        <a:srgbClr val="6B46C1"/>
      </a:folHlink>
    </a:clrScheme>
    <a:fontScheme name="Common Threa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1104</Words>
  <Application>Microsoft Office PowerPoint</Application>
  <PresentationFormat>On-screen Show (16:9)</PresentationFormat>
  <Paragraphs>321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Courier New</vt:lpstr>
      <vt:lpstr>Common Thread</vt:lpstr>
      <vt:lpstr>PowerPoint Presentation</vt:lpstr>
      <vt:lpstr>Two Sequences. One Common Thread</vt:lpstr>
      <vt:lpstr>From Black Box to Explainable</vt:lpstr>
      <vt:lpstr>From DNA Input to Explainable Result</vt:lpstr>
      <vt:lpstr>The Engine Behind Common Thread</vt:lpstr>
      <vt:lpstr>See the Algorithm Think</vt:lpstr>
      <vt:lpstr>From Common Thread to Intelligent Analysis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Common Thread — DNA Sequence Comparison using Dynamic Programming</dc:title>
  <dc:subject>PptxGenJS Presentation</dc:subject>
  <dc:creator>Team Common Thread</dc:creator>
  <cp:lastModifiedBy>PS SRILAKSHMI</cp:lastModifiedBy>
  <cp:revision>1</cp:revision>
  <dcterms:created xsi:type="dcterms:W3CDTF">2026-10-03T05:35:53Z</dcterms:created>
  <dcterms:modified xsi:type="dcterms:W3CDTF">2026-10-03T05:42:11Z</dcterms:modified>
</cp:coreProperties>
</file>